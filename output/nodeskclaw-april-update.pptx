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1b8a5e8b764e09" /><Relationship Type="http://schemas.openxmlformats.org/officeDocument/2006/relationships/extended-properties" Target="/docProps/app.xml" Id="R7924070a053b4e4c" /><Relationship Type="http://schemas.openxmlformats.org/officeDocument/2006/relationships/officeDocument" Target="/ppt/presentation.xml" Id="R0088ae6f2c0d4af2" /></Relationships>
</file>

<file path=ppt/presentation.xml><?xml version="1.0" encoding="utf-8"?>
<p:presentation xmlns:p="http://schemas.openxmlformats.org/presentationml/2006/main">
  <p:sldMasterIdLst>
    <p:sldMasterId xmlns:r="http://schemas.openxmlformats.org/officeDocument/2006/relationships" id="2147483648" r:id="R80b741a3f77048af"/>
  </p:sldMasterIdLst>
  <p:notesMasterIdLst>
    <p:notesMasterId xmlns:r="http://schemas.openxmlformats.org/officeDocument/2006/relationships" r:id="R7ce6d5676e6347a1"/>
  </p:notesMasterIdLst>
  <p:sldIdLst>
    <p:sldId xmlns:r="http://schemas.openxmlformats.org/officeDocument/2006/relationships" id="256" r:id="R4db95e49f6604fa1"/>
    <p:sldId xmlns:r="http://schemas.openxmlformats.org/officeDocument/2006/relationships" id="257" r:id="R233b5cb441a34e5e"/>
    <p:sldId xmlns:r="http://schemas.openxmlformats.org/officeDocument/2006/relationships" id="258" r:id="R9e142933ca8641fe"/>
    <p:sldId xmlns:r="http://schemas.openxmlformats.org/officeDocument/2006/relationships" id="259" r:id="R11b25c641a784c3b"/>
    <p:sldId xmlns:r="http://schemas.openxmlformats.org/officeDocument/2006/relationships" id="260" r:id="R4d7bf154f7a2492c"/>
    <p:sldId xmlns:r="http://schemas.openxmlformats.org/officeDocument/2006/relationships" id="261" r:id="Re8f1f564956849dd"/>
    <p:sldId xmlns:r="http://schemas.openxmlformats.org/officeDocument/2006/relationships" id="262" r:id="Re02b8991aeb94daa"/>
    <p:sldId xmlns:r="http://schemas.openxmlformats.org/officeDocument/2006/relationships" id="263" r:id="Rc23133eb7a6f4f80"/>
    <p:sldId xmlns:r="http://schemas.openxmlformats.org/officeDocument/2006/relationships" id="264" r:id="R4197eb8f1eb64bde"/>
    <p:sldId xmlns:r="http://schemas.openxmlformats.org/officeDocument/2006/relationships" id="265" r:id="R1649593b3da54c4f"/>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80b741a3f77048af" /><Relationship Type="http://schemas.openxmlformats.org/officeDocument/2006/relationships/theme" Target="/ppt/theme/theme1.xml" Id="R1269b1517b33482e" /><Relationship Type="http://schemas.openxmlformats.org/officeDocument/2006/relationships/notesMaster" Target="/ppt/notesMasters/notesMaster1.xml" Id="R7ce6d5676e6347a1" /><Relationship Type="http://schemas.openxmlformats.org/officeDocument/2006/relationships/presProps" Target="/ppt/presProps.xml" Id="Rfde4bbb719904da1" /><Relationship Type="http://schemas.openxmlformats.org/officeDocument/2006/relationships/viewProps" Target="/ppt/viewProps.xml" Id="R09b758500b654eb1" /><Relationship Type="http://schemas.openxmlformats.org/officeDocument/2006/relationships/tableStyles" Target="/ppt/tableStyles.xml" Id="Rbe9cc10645a84372" /><Relationship Type="http://schemas.openxmlformats.org/officeDocument/2006/relationships/slide" Target="/ppt/slides/slide1.xml" Id="R4db95e49f6604fa1" /><Relationship Type="http://schemas.openxmlformats.org/officeDocument/2006/relationships/slide" Target="/ppt/slides/slide2.xml" Id="R233b5cb441a34e5e" /><Relationship Type="http://schemas.openxmlformats.org/officeDocument/2006/relationships/slide" Target="/ppt/slides/slide3.xml" Id="R9e142933ca8641fe" /><Relationship Type="http://schemas.openxmlformats.org/officeDocument/2006/relationships/slide" Target="/ppt/slides/slide4.xml" Id="R11b25c641a784c3b" /><Relationship Type="http://schemas.openxmlformats.org/officeDocument/2006/relationships/slide" Target="/ppt/slides/slide5.xml" Id="R4d7bf154f7a2492c" /><Relationship Type="http://schemas.openxmlformats.org/officeDocument/2006/relationships/slide" Target="/ppt/slides/slide6.xml" Id="Re8f1f564956849dd" /><Relationship Type="http://schemas.openxmlformats.org/officeDocument/2006/relationships/slide" Target="/ppt/slides/slide7.xml" Id="Re02b8991aeb94daa" /><Relationship Type="http://schemas.openxmlformats.org/officeDocument/2006/relationships/slide" Target="/ppt/slides/slide8.xml" Id="Rc23133eb7a6f4f80" /><Relationship Type="http://schemas.openxmlformats.org/officeDocument/2006/relationships/slide" Target="/ppt/slides/slide9.xml" Id="R4197eb8f1eb64bde" /><Relationship Type="http://schemas.openxmlformats.org/officeDocument/2006/relationships/slide" Target="/ppt/slides/slide10.xml" Id="R1649593b3da54c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bb24e45b8764a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2a4804592947e7" /><Relationship Type="http://schemas.openxmlformats.org/officeDocument/2006/relationships/notesMaster" Target="/ppt/notesMasters/notesMaster1.xml" Id="R3d9836706c0f4a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58af7529a54cd0" /><Relationship Type="http://schemas.openxmlformats.org/officeDocument/2006/relationships/notesMaster" Target="/ppt/notesMasters/notesMaster1.xml" Id="R6926d9c3fae946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f3ea639af048a5" /><Relationship Type="http://schemas.openxmlformats.org/officeDocument/2006/relationships/notesMaster" Target="/ppt/notesMasters/notesMaster1.xml" Id="Ra7eb152ff0f64c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3399f0d1254031" /><Relationship Type="http://schemas.openxmlformats.org/officeDocument/2006/relationships/notesMaster" Target="/ppt/notesMasters/notesMaster1.xml" Id="R64a64704c9f843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bfd30a610b4ade" /><Relationship Type="http://schemas.openxmlformats.org/officeDocument/2006/relationships/notesMaster" Target="/ppt/notesMasters/notesMaster1.xml" Id="R0ea12617315b43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2909bb75194151" /><Relationship Type="http://schemas.openxmlformats.org/officeDocument/2006/relationships/notesMaster" Target="/ppt/notesMasters/notesMaster1.xml" Id="Rd2d75b26879341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1fa145841c4c70" /><Relationship Type="http://schemas.openxmlformats.org/officeDocument/2006/relationships/notesMaster" Target="/ppt/notesMasters/notesMaster1.xml" Id="Re2d539ccfd0a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d57d37d2cb46b0" /><Relationship Type="http://schemas.openxmlformats.org/officeDocument/2006/relationships/notesMaster" Target="/ppt/notesMasters/notesMaster1.xml" Id="R8ef54be9870946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ec96dc49874d93" /><Relationship Type="http://schemas.openxmlformats.org/officeDocument/2006/relationships/notesMaster" Target="/ppt/notesMasters/notesMaster1.xml" Id="R584bff06c15240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f13ba65384498f" /><Relationship Type="http://schemas.openxmlformats.org/officeDocument/2006/relationships/notesMaster" Target="/ppt/notesMasters/notesMaster1.xml" Id="Rea5b7976911645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b1529e58f04736"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ba8bf06faf54ce4" /><Relationship Type="http://schemas.openxmlformats.org/officeDocument/2006/relationships/slideLayout" Target="/ppt/slideLayouts/slideLayout2.xml" Id="R176945da771345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6945da771345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f2bd1a09ad744ba" /><Relationship Type="http://schemas.openxmlformats.org/officeDocument/2006/relationships/notesSlide" Target="/ppt/notesSlides/notesSlide1.xml" Id="R12c6b3f366844a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974bc7478824bd4" /><Relationship Type="http://schemas.openxmlformats.org/officeDocument/2006/relationships/notesSlide" Target="/ppt/notesSlides/notesSlide2.xml" Id="R4dcbc84c6e4a48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0ad9bf61a68497c" /><Relationship Type="http://schemas.openxmlformats.org/officeDocument/2006/relationships/notesSlide" Target="/ppt/notesSlides/notesSlide3.xml" Id="R8a9f8e25424e4c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02a7494bdb94967" /><Relationship Type="http://schemas.openxmlformats.org/officeDocument/2006/relationships/notesSlide" Target="/ppt/notesSlides/notesSlide4.xml" Id="Rca2c7661364744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3584ab322044c73" /><Relationship Type="http://schemas.openxmlformats.org/officeDocument/2006/relationships/notesSlide" Target="/ppt/notesSlides/notesSlide5.xml" Id="R16838bb90b734c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61f932ce06740b3" /><Relationship Type="http://schemas.openxmlformats.org/officeDocument/2006/relationships/notesSlide" Target="/ppt/notesSlides/notesSlide6.xml" Id="R7fd71410dbc24d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e32a18bbef242e5" /><Relationship Type="http://schemas.openxmlformats.org/officeDocument/2006/relationships/notesSlide" Target="/ppt/notesSlides/notesSlide7.xml" Id="Rbdfe102f8e6949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b72a76d38cc4f7a" /><Relationship Type="http://schemas.openxmlformats.org/officeDocument/2006/relationships/notesSlide" Target="/ppt/notesSlides/notesSlide8.xml" Id="R774136879afc45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34c989db97a4947" /><Relationship Type="http://schemas.openxmlformats.org/officeDocument/2006/relationships/notesSlide" Target="/ppt/notesSlides/notesSlide9.xml" Id="R9c9b3a87eeba4e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3bf3f6140284423" /><Relationship Type="http://schemas.openxmlformats.org/officeDocument/2006/relationships/notesSlide" Target="/ppt/notesSlides/notesSlide10.xml" Id="R2ea2a10cd457469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400D2EF-4F0D-42E1-A140-6E374B22EA5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E1720"/>
          </a:solidFill>
          <a:ln xmlns:a="http://schemas.openxmlformats.org/drawingml/2006/main" w="0">
            <a:solidFill>
              <a:srgbClr val="0E1720"/>
            </a:solidFill>
            <a:prstDash val="solid"/>
          </a:ln>
        </p:spPr>
      </p:sp>
      <p:sp>
        <p:nvSpPr>
          <p:cNvPr id="2" name="">
            <a:extLst xmlns:a="http://schemas.openxmlformats.org/drawingml/2006/main">
              <a:ext uri="{FF2B5EF4-FFF2-40B4-BE49-F238E27FC236}">
                <a16:creationId xmlns:a16="http://schemas.microsoft.com/office/drawing/2014/main" id="{F8330CB4-9376-479F-A74A-C5B558AEAE6F}"/>
              </a:ext>
            </a:extLst>
          </p:cNvPr>
          <p:cNvSpPr>
            <a:spLocks xmlns:a="http://schemas.openxmlformats.org/drawingml/2006/main" noGrp="1"/>
          </p:cNvSpPr>
          <p:nvPr/>
        </p:nvSpPr>
        <p:spPr>
          <a:xfrm xmlns:a="http://schemas.openxmlformats.org/drawingml/2006/main">
            <a:off x="838200" y="609600"/>
            <a:ext cx="14859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8AE6B0"/>
                </a:solidFill>
                <a:latin typeface="Aptos"/>
                <a:ea typeface="Aptos"/>
                <a:cs typeface="Aptos"/>
              </a:defRPr>
            </a:pPr>
            <a:r>
              <a:rPr sz="1650" b="1">
                <a:solidFill>
                  <a:srgbClr val="8AE6B0"/>
                </a:solidFill>
                <a:latin typeface="Aptos"/>
                <a:ea typeface="Aptos"/>
                <a:cs typeface="Aptos"/>
              </a:rPr>
              <a:t>NoDeskClaw</a:t>
            </a:r>
          </a:p>
        </p:txBody>
      </p:sp>
      <p:sp>
        <p:nvSpPr>
          <p:cNvPr id="3" name="">
            <a:extLst xmlns:a="http://schemas.openxmlformats.org/drawingml/2006/main">
              <a:ext uri="{FF2B5EF4-FFF2-40B4-BE49-F238E27FC236}">
                <a16:creationId xmlns:a16="http://schemas.microsoft.com/office/drawing/2014/main" id="{A6785682-42D6-4B08-A775-2CD7164EEDE3}"/>
              </a:ext>
            </a:extLst>
          </p:cNvPr>
          <p:cNvSpPr>
            <a:spLocks xmlns:a="http://schemas.openxmlformats.org/drawingml/2006/main" noGrp="1"/>
          </p:cNvSpPr>
          <p:nvPr/>
        </p:nvSpPr>
        <p:spPr>
          <a:xfrm xmlns:a="http://schemas.openxmlformats.org/drawingml/2006/main">
            <a:off x="15697200" y="628650"/>
            <a:ext cx="17526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9FB4C2"/>
                </a:solidFill>
                <a:latin typeface="PingFang SC"/>
                <a:ea typeface="PingFang SC"/>
                <a:cs typeface="PingFang SC"/>
              </a:defRPr>
            </a:pPr>
            <a:r>
              <a:rPr sz="1350">
                <a:solidFill>
                  <a:srgbClr val="9FB4C2"/>
                </a:solidFill>
                <a:latin typeface="PingFang SC"/>
                <a:ea typeface="PingFang SC"/>
                <a:cs typeface="PingFang SC"/>
              </a:rPr>
              <a:t>2026.04 产品更新分享</a:t>
            </a:r>
          </a:p>
        </p:txBody>
      </p:sp>
      <p:sp>
        <p:nvSpPr>
          <p:cNvPr id="4" name="cover-title">
            <a:extLst xmlns:a="http://schemas.openxmlformats.org/drawingml/2006/main">
              <a:ext uri="{FF2B5EF4-FFF2-40B4-BE49-F238E27FC236}">
                <a16:creationId xmlns:a16="http://schemas.microsoft.com/office/drawing/2014/main" id="{BBC9B544-4A92-4800-8676-302B660BA423}"/>
              </a:ext>
            </a:extLst>
          </p:cNvPr>
          <p:cNvSpPr>
            <a:spLocks xmlns:a="http://schemas.openxmlformats.org/drawingml/2006/main" noGrp="1"/>
          </p:cNvSpPr>
          <p:nvPr/>
        </p:nvSpPr>
        <p:spPr>
          <a:xfrm xmlns:a="http://schemas.openxmlformats.org/drawingml/2006/main">
            <a:off x="838200" y="3543300"/>
            <a:ext cx="9867900" cy="1524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5550" b="1">
                <a:solidFill>
                  <a:srgbClr val="FFFFFF"/>
                </a:solidFill>
                <a:latin typeface="PingFang SC"/>
                <a:ea typeface="PingFang SC"/>
                <a:cs typeface="PingFang SC"/>
              </a:defRPr>
            </a:pPr>
            <a:r>
              <a:rPr sz="5550" b="1">
                <a:solidFill>
                  <a:srgbClr val="FFFFFF"/>
                </a:solidFill>
                <a:latin typeface="PingFang SC"/>
                <a:ea typeface="PingFang SC"/>
                <a:cs typeface="PingFang SC"/>
              </a:rPr>
              <a:t>四月更新：从实例控制台，走向 AI 员工运营平台</a:t>
            </a:r>
          </a:p>
        </p:txBody>
      </p:sp>
      <p:sp>
        <p:nvSpPr>
          <p:cNvPr id="5" name="cover-subtitle">
            <a:extLst xmlns:a="http://schemas.openxmlformats.org/drawingml/2006/main">
              <a:ext uri="{FF2B5EF4-FFF2-40B4-BE49-F238E27FC236}">
                <a16:creationId xmlns:a16="http://schemas.microsoft.com/office/drawing/2014/main" id="{D3E02ACB-AE1A-4D04-A0F4-A5B5DDC2EB8C}"/>
              </a:ext>
            </a:extLst>
          </p:cNvPr>
          <p:cNvSpPr>
            <a:spLocks xmlns:a="http://schemas.openxmlformats.org/drawingml/2006/main" noGrp="1"/>
          </p:cNvSpPr>
          <p:nvPr/>
        </p:nvSpPr>
        <p:spPr>
          <a:xfrm xmlns:a="http://schemas.openxmlformats.org/drawingml/2006/main">
            <a:off x="838200" y="5391150"/>
            <a:ext cx="91249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75">
                <a:solidFill>
                  <a:srgbClr val="C7D8E4"/>
                </a:solidFill>
                <a:latin typeface="PingFang SC"/>
                <a:ea typeface="PingFang SC"/>
                <a:cs typeface="PingFang SC"/>
              </a:defRPr>
            </a:pPr>
            <a:r>
              <a:rPr sz="2175">
                <a:solidFill>
                  <a:srgbClr val="C7D8E4"/>
                </a:solidFill>
                <a:latin typeface="PingFang SC"/>
                <a:ea typeface="PingFang SC"/>
                <a:cs typeface="PingFang SC"/>
              </a:rPr>
              <a:t>多集群、拓扑路由、模板部署、模型供应商、灾备、绩效与运行底座，在这个月连成了一条完整产品主线。</a:t>
            </a:r>
          </a:p>
        </p:txBody>
      </p:sp>
      <p:sp>
        <p:nvSpPr>
          <p:cNvPr id="6" name="pill-CE + EE">
            <a:extLst xmlns:a="http://schemas.openxmlformats.org/drawingml/2006/main">
              <a:ext uri="{FF2B5EF4-FFF2-40B4-BE49-F238E27FC236}">
                <a16:creationId xmlns:a16="http://schemas.microsoft.com/office/drawing/2014/main" id="{F01F997B-D7F2-4D6E-ABBE-D8FDBB58DE60}"/>
              </a:ext>
            </a:extLst>
          </p:cNvPr>
          <p:cNvSpPr>
            <a:spLocks xmlns:a="http://schemas.openxmlformats.org/drawingml/2006/main" noGrp="1"/>
          </p:cNvSpPr>
          <p:nvPr/>
        </p:nvSpPr>
        <p:spPr>
          <a:xfrm xmlns:a="http://schemas.openxmlformats.org/drawingml/2006/main">
            <a:off x="838200" y="6364034"/>
            <a:ext cx="3238500" cy="323850"/>
          </a:xfrm>
          <a:prstGeom xmlns:a="http://schemas.openxmlformats.org/drawingml/2006/main" prst="roundRect">
            <a:avLst>
              <a:gd name="adj" fmla="val 50000"/>
            </a:avLst>
          </a:prstGeom>
          <a:solidFill xmlns:a="http://schemas.openxmlformats.org/drawingml/2006/main">
            <a:srgbClr val="8AE6B0">
              <a:alpha val="10196"/>
            </a:srgbClr>
          </a:solidFill>
          <a:ln xmlns:a="http://schemas.openxmlformats.org/drawingml/2006/main" w="9525">
            <a:solidFill>
              <a:srgbClr val="D7DEE7"/>
            </a:solidFill>
            <a:prstDash val="solid"/>
          </a:ln>
        </p:spPr>
      </p:sp>
      <p:sp>
        <p:nvSpPr>
          <p:cNvPr id="7" name="">
            <a:extLst xmlns:a="http://schemas.openxmlformats.org/drawingml/2006/main">
              <a:ext uri="{FF2B5EF4-FFF2-40B4-BE49-F238E27FC236}">
                <a16:creationId xmlns:a16="http://schemas.microsoft.com/office/drawing/2014/main" id="{CF580F67-F88D-4EB8-806C-4D144D344CAB}"/>
              </a:ext>
            </a:extLst>
          </p:cNvPr>
          <p:cNvSpPr>
            <a:spLocks xmlns:a="http://schemas.openxmlformats.org/drawingml/2006/main" noGrp="1"/>
          </p:cNvSpPr>
          <p:nvPr/>
        </p:nvSpPr>
        <p:spPr>
          <a:xfrm xmlns:a="http://schemas.openxmlformats.org/drawingml/2006/main">
            <a:off x="1009650" y="64389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8AE6B0"/>
                </a:solidFill>
                <a:latin typeface="PingFang SC"/>
                <a:ea typeface="PingFang SC"/>
                <a:cs typeface="PingFang SC"/>
              </a:defRPr>
            </a:pPr>
            <a:r>
              <a:rPr sz="1350" b="1">
                <a:solidFill>
                  <a:srgbClr val="8AE6B0"/>
                </a:solidFill>
                <a:latin typeface="PingFang SC"/>
                <a:ea typeface="PingFang SC"/>
                <a:cs typeface="PingFang SC"/>
              </a:rPr>
              <a:t>CE + EE</a:t>
            </a:r>
          </a:p>
        </p:txBody>
      </p:sp>
      <p:sp>
        <p:nvSpPr>
          <p:cNvPr id="8" name="pill-Agent（AI 员工）">
            <a:extLst xmlns:a="http://schemas.openxmlformats.org/drawingml/2006/main">
              <a:ext uri="{FF2B5EF4-FFF2-40B4-BE49-F238E27FC236}">
                <a16:creationId xmlns:a16="http://schemas.microsoft.com/office/drawing/2014/main" id="{EC015354-A26A-4047-9771-C14FC85C93E8}"/>
              </a:ext>
            </a:extLst>
          </p:cNvPr>
          <p:cNvSpPr>
            <a:spLocks xmlns:a="http://schemas.openxmlformats.org/drawingml/2006/main" noGrp="1"/>
          </p:cNvSpPr>
          <p:nvPr/>
        </p:nvSpPr>
        <p:spPr>
          <a:xfrm xmlns:a="http://schemas.openxmlformats.org/drawingml/2006/main">
            <a:off x="4210050" y="6364034"/>
            <a:ext cx="3238500" cy="323850"/>
          </a:xfrm>
          <a:prstGeom xmlns:a="http://schemas.openxmlformats.org/drawingml/2006/main" prst="roundRect">
            <a:avLst>
              <a:gd name="adj" fmla="val 50000"/>
            </a:avLst>
          </a:prstGeom>
          <a:solidFill xmlns:a="http://schemas.openxmlformats.org/drawingml/2006/main">
            <a:srgbClr val="52D1DC">
              <a:alpha val="10196"/>
            </a:srgbClr>
          </a:solidFill>
          <a:ln xmlns:a="http://schemas.openxmlformats.org/drawingml/2006/main" w="9525">
            <a:solidFill>
              <a:srgbClr val="D7DEE7"/>
            </a:solidFill>
            <a:prstDash val="solid"/>
          </a:ln>
        </p:spPr>
      </p:sp>
      <p:sp>
        <p:nvSpPr>
          <p:cNvPr id="9" name="">
            <a:extLst xmlns:a="http://schemas.openxmlformats.org/drawingml/2006/main">
              <a:ext uri="{FF2B5EF4-FFF2-40B4-BE49-F238E27FC236}">
                <a16:creationId xmlns:a16="http://schemas.microsoft.com/office/drawing/2014/main" id="{8ECEB87D-08BF-491C-8172-52CC97AD1017}"/>
              </a:ext>
            </a:extLst>
          </p:cNvPr>
          <p:cNvSpPr>
            <a:spLocks xmlns:a="http://schemas.openxmlformats.org/drawingml/2006/main" noGrp="1"/>
          </p:cNvSpPr>
          <p:nvPr/>
        </p:nvSpPr>
        <p:spPr>
          <a:xfrm xmlns:a="http://schemas.openxmlformats.org/drawingml/2006/main">
            <a:off x="4381500" y="64389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52D1DC"/>
                </a:solidFill>
                <a:latin typeface="PingFang SC"/>
                <a:ea typeface="PingFang SC"/>
                <a:cs typeface="PingFang SC"/>
              </a:defRPr>
            </a:pPr>
            <a:r>
              <a:rPr sz="1350" b="1">
                <a:solidFill>
                  <a:srgbClr val="52D1DC"/>
                </a:solidFill>
                <a:latin typeface="PingFang SC"/>
                <a:ea typeface="PingFang SC"/>
                <a:cs typeface="PingFang SC"/>
              </a:rPr>
              <a:t>Agent（AI 员工）</a:t>
            </a:r>
          </a:p>
        </p:txBody>
      </p:sp>
      <p:sp>
        <p:nvSpPr>
          <p:cNvPr id="10" name="pill-K8s（Kubernetes 集群）">
            <a:extLst xmlns:a="http://schemas.openxmlformats.org/drawingml/2006/main">
              <a:ext uri="{FF2B5EF4-FFF2-40B4-BE49-F238E27FC236}">
                <a16:creationId xmlns:a16="http://schemas.microsoft.com/office/drawing/2014/main" id="{E0D36956-ED2F-4146-8C00-43D56AFA4E39}"/>
              </a:ext>
            </a:extLst>
          </p:cNvPr>
          <p:cNvSpPr>
            <a:spLocks xmlns:a="http://schemas.openxmlformats.org/drawingml/2006/main" noGrp="1"/>
          </p:cNvSpPr>
          <p:nvPr/>
        </p:nvSpPr>
        <p:spPr>
          <a:xfrm xmlns:a="http://schemas.openxmlformats.org/drawingml/2006/main">
            <a:off x="7581900" y="6364034"/>
            <a:ext cx="3238500" cy="323850"/>
          </a:xfrm>
          <a:prstGeom xmlns:a="http://schemas.openxmlformats.org/drawingml/2006/main" prst="roundRect">
            <a:avLst>
              <a:gd name="adj" fmla="val 50000"/>
            </a:avLst>
          </a:prstGeom>
          <a:solidFill xmlns:a="http://schemas.openxmlformats.org/drawingml/2006/main">
            <a:srgbClr val="F6C85F">
              <a:alpha val="10196"/>
            </a:srgbClr>
          </a:solidFill>
          <a:ln xmlns:a="http://schemas.openxmlformats.org/drawingml/2006/main" w="9525">
            <a:solidFill>
              <a:srgbClr val="D7DEE7"/>
            </a:solidFill>
            <a:prstDash val="solid"/>
          </a:ln>
        </p:spPr>
      </p:sp>
      <p:sp>
        <p:nvSpPr>
          <p:cNvPr id="11" name="">
            <a:extLst xmlns:a="http://schemas.openxmlformats.org/drawingml/2006/main">
              <a:ext uri="{FF2B5EF4-FFF2-40B4-BE49-F238E27FC236}">
                <a16:creationId xmlns:a16="http://schemas.microsoft.com/office/drawing/2014/main" id="{99789986-1D4C-4E36-8E00-01652943047D}"/>
              </a:ext>
            </a:extLst>
          </p:cNvPr>
          <p:cNvSpPr>
            <a:spLocks xmlns:a="http://schemas.openxmlformats.org/drawingml/2006/main" noGrp="1"/>
          </p:cNvSpPr>
          <p:nvPr/>
        </p:nvSpPr>
        <p:spPr>
          <a:xfrm xmlns:a="http://schemas.openxmlformats.org/drawingml/2006/main">
            <a:off x="7753350" y="64389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F6C85F"/>
                </a:solidFill>
                <a:latin typeface="PingFang SC"/>
                <a:ea typeface="PingFang SC"/>
                <a:cs typeface="PingFang SC"/>
              </a:defRPr>
            </a:pPr>
            <a:r>
              <a:rPr sz="1350" b="1">
                <a:solidFill>
                  <a:srgbClr val="F6C85F"/>
                </a:solidFill>
                <a:latin typeface="PingFang SC"/>
                <a:ea typeface="PingFang SC"/>
                <a:cs typeface="PingFang SC"/>
              </a:rPr>
              <a:t>K8s（Kubernetes 集群）</a:t>
            </a:r>
          </a:p>
        </p:txBody>
      </p:sp>
      <p:sp>
        <p:nvSpPr>
          <p:cNvPr id="12" name="">
            <a:extLst xmlns:a="http://schemas.openxmlformats.org/drawingml/2006/main">
              <a:ext uri="{FF2B5EF4-FFF2-40B4-BE49-F238E27FC236}">
                <a16:creationId xmlns:a16="http://schemas.microsoft.com/office/drawing/2014/main" id="{C706E861-16A0-4C35-8EE2-286FDC97FA22}"/>
              </a:ext>
            </a:extLst>
          </p:cNvPr>
          <p:cNvSpPr>
            <a:spLocks xmlns:a="http://schemas.openxmlformats.org/drawingml/2006/main" noGrp="1"/>
          </p:cNvSpPr>
          <p:nvPr/>
        </p:nvSpPr>
        <p:spPr>
          <a:xfrm xmlns:a="http://schemas.openxmlformats.org/drawingml/2006/main">
            <a:off x="12325350" y="3562350"/>
            <a:ext cx="512445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4200" b="1">
                <a:solidFill>
                  <a:srgbClr val="8AE6B0"/>
                </a:solidFill>
                <a:latin typeface="Aptos"/>
                <a:ea typeface="Aptos"/>
                <a:cs typeface="Aptos"/>
              </a:defRPr>
            </a:pPr>
            <a:r>
              <a:rPr sz="4200" b="1">
                <a:solidFill>
                  <a:srgbClr val="8AE6B0"/>
                </a:solidFill>
                <a:latin typeface="Aptos"/>
                <a:ea typeface="Aptos"/>
                <a:cs typeface="Aptos"/>
              </a:rPr>
              <a:t>260</a:t>
            </a:r>
          </a:p>
        </p:txBody>
      </p:sp>
      <p:sp>
        <p:nvSpPr>
          <p:cNvPr id="13" name="">
            <a:extLst xmlns:a="http://schemas.openxmlformats.org/drawingml/2006/main">
              <a:ext uri="{FF2B5EF4-FFF2-40B4-BE49-F238E27FC236}">
                <a16:creationId xmlns:a16="http://schemas.microsoft.com/office/drawing/2014/main" id="{77BA4C5C-39A7-4178-A0DB-B897982FE0E4}"/>
              </a:ext>
            </a:extLst>
          </p:cNvPr>
          <p:cNvSpPr>
            <a:spLocks xmlns:a="http://schemas.openxmlformats.org/drawingml/2006/main" noGrp="1"/>
          </p:cNvSpPr>
          <p:nvPr/>
        </p:nvSpPr>
        <p:spPr>
          <a:xfrm xmlns:a="http://schemas.openxmlformats.org/drawingml/2006/main">
            <a:off x="12325350" y="4191000"/>
            <a:ext cx="5124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C8D4DD"/>
                </a:solidFill>
                <a:latin typeface="PingFang SC"/>
                <a:ea typeface="PingFang SC"/>
                <a:cs typeface="PingFang SC"/>
              </a:defRPr>
            </a:pPr>
            <a:r>
              <a:rPr sz="1350">
                <a:solidFill>
                  <a:srgbClr val="C8D4DD"/>
                </a:solidFill>
                <a:latin typeface="PingFang SC"/>
                <a:ea typeface="PingFang SC"/>
                <a:cs typeface="PingFang SC"/>
              </a:rPr>
              <a:t>主仓库四月非 merge 提交</a:t>
            </a:r>
          </a:p>
        </p:txBody>
      </p:sp>
      <p:sp>
        <p:nvSpPr>
          <p:cNvPr id="14" name="">
            <a:extLst xmlns:a="http://schemas.openxmlformats.org/drawingml/2006/main">
              <a:ext uri="{FF2B5EF4-FFF2-40B4-BE49-F238E27FC236}">
                <a16:creationId xmlns:a16="http://schemas.microsoft.com/office/drawing/2014/main" id="{460F8DB0-A5D7-45B3-98FE-DC03E4C7878B}"/>
              </a:ext>
            </a:extLst>
          </p:cNvPr>
          <p:cNvSpPr>
            <a:spLocks xmlns:a="http://schemas.openxmlformats.org/drawingml/2006/main" noGrp="1"/>
          </p:cNvSpPr>
          <p:nvPr/>
        </p:nvSpPr>
        <p:spPr>
          <a:xfrm xmlns:a="http://schemas.openxmlformats.org/drawingml/2006/main">
            <a:off x="12325350" y="4705350"/>
            <a:ext cx="512445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4200" b="1">
                <a:solidFill>
                  <a:srgbClr val="52D1DC"/>
                </a:solidFill>
                <a:latin typeface="Aptos"/>
                <a:ea typeface="Aptos"/>
                <a:cs typeface="Aptos"/>
              </a:defRPr>
            </a:pPr>
            <a:r>
              <a:rPr sz="4200" b="1">
                <a:solidFill>
                  <a:srgbClr val="52D1DC"/>
                </a:solidFill>
                <a:latin typeface="Aptos"/>
                <a:ea typeface="Aptos"/>
                <a:cs typeface="Aptos"/>
              </a:rPr>
              <a:t>48</a:t>
            </a:r>
          </a:p>
        </p:txBody>
      </p:sp>
      <p:sp>
        <p:nvSpPr>
          <p:cNvPr id="15" name="">
            <a:extLst xmlns:a="http://schemas.openxmlformats.org/drawingml/2006/main">
              <a:ext uri="{FF2B5EF4-FFF2-40B4-BE49-F238E27FC236}">
                <a16:creationId xmlns:a16="http://schemas.microsoft.com/office/drawing/2014/main" id="{0FA71464-30C7-4AC3-A7FF-A5C7EBF8F331}"/>
              </a:ext>
            </a:extLst>
          </p:cNvPr>
          <p:cNvSpPr>
            <a:spLocks xmlns:a="http://schemas.openxmlformats.org/drawingml/2006/main" noGrp="1"/>
          </p:cNvSpPr>
          <p:nvPr/>
        </p:nvSpPr>
        <p:spPr>
          <a:xfrm xmlns:a="http://schemas.openxmlformats.org/drawingml/2006/main">
            <a:off x="12325350" y="5353050"/>
            <a:ext cx="5124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C8D4DD"/>
                </a:solidFill>
                <a:latin typeface="PingFang SC"/>
                <a:ea typeface="PingFang SC"/>
                <a:cs typeface="PingFang SC"/>
              </a:defRPr>
            </a:pPr>
            <a:r>
              <a:rPr sz="1350">
                <a:solidFill>
                  <a:srgbClr val="C8D4DD"/>
                </a:solidFill>
                <a:latin typeface="PingFang SC"/>
                <a:ea typeface="PingFang SC"/>
                <a:cs typeface="PingFang SC"/>
              </a:rPr>
              <a:t>ee 仓库同步提交</a:t>
            </a:r>
          </a:p>
        </p:txBody>
      </p:sp>
      <p:sp>
        <p:nvSpPr>
          <p:cNvPr id="16" name="">
            <a:extLst xmlns:a="http://schemas.openxmlformats.org/drawingml/2006/main">
              <a:ext uri="{FF2B5EF4-FFF2-40B4-BE49-F238E27FC236}">
                <a16:creationId xmlns:a16="http://schemas.microsoft.com/office/drawing/2014/main" id="{F7B06D4A-29E5-4598-A1C6-D739EF7624D3}"/>
              </a:ext>
            </a:extLst>
          </p:cNvPr>
          <p:cNvSpPr>
            <a:spLocks xmlns:a="http://schemas.openxmlformats.org/drawingml/2006/main" noGrp="1"/>
          </p:cNvSpPr>
          <p:nvPr/>
        </p:nvSpPr>
        <p:spPr>
          <a:xfrm xmlns:a="http://schemas.openxmlformats.org/drawingml/2006/main">
            <a:off x="12325350" y="5867400"/>
            <a:ext cx="512445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4200" b="1">
                <a:solidFill>
                  <a:srgbClr val="F6C85F"/>
                </a:solidFill>
                <a:latin typeface="Aptos"/>
                <a:ea typeface="Aptos"/>
                <a:cs typeface="Aptos"/>
              </a:defRPr>
            </a:pPr>
            <a:r>
              <a:rPr sz="4200" b="1">
                <a:solidFill>
                  <a:srgbClr val="F6C85F"/>
                </a:solidFill>
                <a:latin typeface="Aptos"/>
                <a:ea typeface="Aptos"/>
                <a:cs typeface="Aptos"/>
              </a:rPr>
              <a:t>7</a:t>
            </a:r>
          </a:p>
        </p:txBody>
      </p:sp>
      <p:sp>
        <p:nvSpPr>
          <p:cNvPr id="17" name="">
            <a:extLst xmlns:a="http://schemas.openxmlformats.org/drawingml/2006/main">
              <a:ext uri="{FF2B5EF4-FFF2-40B4-BE49-F238E27FC236}">
                <a16:creationId xmlns:a16="http://schemas.microsoft.com/office/drawing/2014/main" id="{8967CA84-BADB-4F03-973D-3667B9E1E31B}"/>
              </a:ext>
            </a:extLst>
          </p:cNvPr>
          <p:cNvSpPr>
            <a:spLocks xmlns:a="http://schemas.openxmlformats.org/drawingml/2006/main" noGrp="1"/>
          </p:cNvSpPr>
          <p:nvPr/>
        </p:nvSpPr>
        <p:spPr>
          <a:xfrm xmlns:a="http://schemas.openxmlformats.org/drawingml/2006/main">
            <a:off x="12325350" y="6496050"/>
            <a:ext cx="51244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C8D4DD"/>
                </a:solidFill>
                <a:latin typeface="PingFang SC"/>
                <a:ea typeface="PingFang SC"/>
                <a:cs typeface="PingFang SC"/>
              </a:defRPr>
            </a:pPr>
            <a:r>
              <a:rPr sz="1350">
                <a:solidFill>
                  <a:srgbClr val="C8D4DD"/>
                </a:solidFill>
                <a:latin typeface="PingFang SC"/>
                <a:ea typeface="PingFang SC"/>
                <a:cs typeface="PingFang SC"/>
              </a:rPr>
              <a:t>可对外分享的产品主线</a:t>
            </a:r>
          </a:p>
        </p:txBody>
      </p:sp>
      <p:sp>
        <p:nvSpPr>
          <p:cNvPr id="18" name="footer-rule">
            <a:extLst xmlns:a="http://schemas.openxmlformats.org/drawingml/2006/main">
              <a:ext uri="{FF2B5EF4-FFF2-40B4-BE49-F238E27FC236}">
                <a16:creationId xmlns:a16="http://schemas.microsoft.com/office/drawing/2014/main" id="{3378A36A-FE37-460E-A4E0-DAE3604138B4}"/>
              </a:ext>
            </a:extLst>
          </p:cNvPr>
          <p:cNvSpPr>
            <a:spLocks xmlns:a="http://schemas.openxmlformats.org/drawingml/2006/main" noGrp="1"/>
          </p:cNvSpPr>
          <p:nvPr/>
        </p:nvSpPr>
        <p:spPr>
          <a:xfrm xmlns:a="http://schemas.openxmlformats.org/drawingml/2006/main">
            <a:off x="838200" y="9544050"/>
            <a:ext cx="1388745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19" name="footer-label">
            <a:extLst xmlns:a="http://schemas.openxmlformats.org/drawingml/2006/main">
              <a:ext uri="{FF2B5EF4-FFF2-40B4-BE49-F238E27FC236}">
                <a16:creationId xmlns:a16="http://schemas.microsoft.com/office/drawing/2014/main" id="{EEA51721-F8CA-472F-8C4A-A15E9DDCC2A6}"/>
              </a:ext>
            </a:extLst>
          </p:cNvPr>
          <p:cNvSpPr>
            <a:spLocks xmlns:a="http://schemas.openxmlformats.org/drawingml/2006/main" noGrp="1"/>
          </p:cNvSpPr>
          <p:nvPr/>
        </p:nvSpPr>
        <p:spPr>
          <a:xfrm xmlns:a="http://schemas.openxmlformats.org/drawingml/2006/main">
            <a:off x="14878050" y="9410700"/>
            <a:ext cx="25717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截至 2026-04-27，本地仓库四月提交统计</a:t>
            </a:r>
          </a:p>
        </p:txBody>
      </p:sp>
    </p:spTree>
    <p:extLst>
      <p:ext uri="{BB962C8B-B14F-4D97-AF65-F5344CB8AC3E}">
        <p14:creationId xmlns:p14="http://schemas.microsoft.com/office/powerpoint/2010/main" val="104580947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2632ECB-F045-4B0E-871C-12CC9D2156B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7F9F6"/>
          </a:solidFill>
          <a:ln xmlns:a="http://schemas.openxmlformats.org/drawingml/2006/main" w="0">
            <a:solidFill>
              <a:srgbClr val="F7F9F6"/>
            </a:solidFill>
            <a:prstDash val="solid"/>
          </a:ln>
        </p:spPr>
      </p:sp>
      <p:sp>
        <p:nvSpPr>
          <p:cNvPr id="2" name="kicker-rule">
            <a:extLst xmlns:a="http://schemas.openxmlformats.org/drawingml/2006/main">
              <a:ext uri="{FF2B5EF4-FFF2-40B4-BE49-F238E27FC236}">
                <a16:creationId xmlns:a16="http://schemas.microsoft.com/office/drawing/2014/main" id="{6B49C6F7-F0C1-4DDF-96D8-2808EB681183}"/>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3" name="kicker">
            <a:extLst xmlns:a="http://schemas.openxmlformats.org/drawingml/2006/main">
              <a:ext uri="{FF2B5EF4-FFF2-40B4-BE49-F238E27FC236}">
                <a16:creationId xmlns:a16="http://schemas.microsoft.com/office/drawing/2014/main" id="{D6A2F72B-FC95-4914-9016-18850FDE7179}"/>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5B6875"/>
                </a:solidFill>
                <a:latin typeface="PingFang SC"/>
                <a:ea typeface="PingFang SC"/>
                <a:cs typeface="PingFang SC"/>
              </a:defRPr>
            </a:pPr>
            <a:r>
              <a:rPr sz="1350" b="1">
                <a:solidFill>
                  <a:srgbClr val="5B6875"/>
                </a:solidFill>
                <a:latin typeface="PingFang SC"/>
                <a:ea typeface="PingFang SC"/>
                <a:cs typeface="PingFang SC"/>
              </a:rPr>
              <a:t>总览</a:t>
            </a:r>
          </a:p>
        </p:txBody>
      </p:sp>
      <p:sp>
        <p:nvSpPr>
          <p:cNvPr id="4" name="slide-title">
            <a:extLst xmlns:a="http://schemas.openxmlformats.org/drawingml/2006/main">
              <a:ext uri="{FF2B5EF4-FFF2-40B4-BE49-F238E27FC236}">
                <a16:creationId xmlns:a16="http://schemas.microsoft.com/office/drawing/2014/main" id="{6524CB9D-C73F-46C2-B9ED-C027E991BDC4}"/>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16212D"/>
                </a:solidFill>
                <a:latin typeface="PingFang SC"/>
                <a:ea typeface="PingFang SC"/>
                <a:cs typeface="PingFang SC"/>
              </a:defRPr>
            </a:pPr>
            <a:r>
              <a:rPr sz="3900" b="1">
                <a:solidFill>
                  <a:srgbClr val="16212D"/>
                </a:solidFill>
                <a:latin typeface="PingFang SC"/>
                <a:ea typeface="PingFang SC"/>
                <a:cs typeface="PingFang SC"/>
              </a:rPr>
              <a:t>四月主线：底座补齐，协作显性化，运营可量化</a:t>
            </a:r>
          </a:p>
        </p:txBody>
      </p:sp>
      <p:sp>
        <p:nvSpPr>
          <p:cNvPr id="5" name="slide-subtitle">
            <a:extLst xmlns:a="http://schemas.openxmlformats.org/drawingml/2006/main">
              <a:ext uri="{FF2B5EF4-FFF2-40B4-BE49-F238E27FC236}">
                <a16:creationId xmlns:a16="http://schemas.microsoft.com/office/drawing/2014/main" id="{07E14429-8B5A-48C2-A345-6EDD36736E6B}"/>
              </a:ext>
            </a:extLst>
          </p:cNvPr>
          <p:cNvSpPr>
            <a:spLocks xmlns:a="http://schemas.openxmlformats.org/drawingml/2006/main" noGrp="1"/>
          </p:cNvSpPr>
          <p:nvPr/>
        </p:nvSpPr>
        <p:spPr>
          <a:xfrm xmlns:a="http://schemas.openxmlformats.org/drawingml/2006/main">
            <a:off x="838200" y="1619250"/>
            <a:ext cx="8191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5B6875"/>
                </a:solidFill>
                <a:latin typeface="PingFang SC"/>
                <a:ea typeface="PingFang SC"/>
                <a:cs typeface="PingFang SC"/>
              </a:defRPr>
            </a:pPr>
            <a:r>
              <a:rPr sz="1800">
                <a:solidFill>
                  <a:srgbClr val="5B6875"/>
                </a:solidFill>
                <a:latin typeface="PingFang SC"/>
                <a:ea typeface="PingFang SC"/>
                <a:cs typeface="PingFang SC"/>
              </a:rPr>
              <a:t>这些更新不是单点功能堆叠，而是在把 DeskClaw 实例管理升级为 AI 员工平台。</a:t>
            </a:r>
          </a:p>
        </p:txBody>
      </p:sp>
      <p:sp>
        <p:nvSpPr>
          <p:cNvPr id="6" name="lane-index-1">
            <a:extLst xmlns:a="http://schemas.openxmlformats.org/drawingml/2006/main">
              <a:ext uri="{FF2B5EF4-FFF2-40B4-BE49-F238E27FC236}">
                <a16:creationId xmlns:a16="http://schemas.microsoft.com/office/drawing/2014/main" id="{1389E7DC-15BA-4DDD-A5EA-607D2EA68E35}"/>
              </a:ext>
            </a:extLst>
          </p:cNvPr>
          <p:cNvSpPr>
            <a:spLocks xmlns:a="http://schemas.openxmlformats.org/drawingml/2006/main" noGrp="1"/>
          </p:cNvSpPr>
          <p:nvPr/>
        </p:nvSpPr>
        <p:spPr>
          <a:xfrm xmlns:a="http://schemas.openxmlformats.org/drawingml/2006/main">
            <a:off x="838200" y="2705100"/>
            <a:ext cx="552450" cy="552450"/>
          </a:xfrm>
          <a:prstGeom xmlns:a="http://schemas.openxmlformats.org/drawingml/2006/main" prst="roundRect">
            <a:avLst>
              <a:gd name="adj" fmla="val 20690"/>
            </a:avLst>
          </a:prstGeom>
          <a:solidFill xmlns:a="http://schemas.openxmlformats.org/drawingml/2006/main">
            <a:srgbClr val="8AE6B0"/>
          </a:solidFill>
          <a:ln xmlns:a="http://schemas.openxmlformats.org/drawingml/2006/main" w="9525">
            <a:solidFill>
              <a:srgbClr val="D7DEE7"/>
            </a:solidFill>
            <a:prstDash val="solid"/>
          </a:ln>
        </p:spPr>
      </p:sp>
      <p:sp>
        <p:nvSpPr>
          <p:cNvPr id="7" name="">
            <a:extLst xmlns:a="http://schemas.openxmlformats.org/drawingml/2006/main">
              <a:ext uri="{FF2B5EF4-FFF2-40B4-BE49-F238E27FC236}">
                <a16:creationId xmlns:a16="http://schemas.microsoft.com/office/drawing/2014/main" id="{2825511E-2B44-4ED5-8B44-31022652FBAB}"/>
              </a:ext>
            </a:extLst>
          </p:cNvPr>
          <p:cNvSpPr>
            <a:spLocks xmlns:a="http://schemas.openxmlformats.org/drawingml/2006/main" noGrp="1"/>
          </p:cNvSpPr>
          <p:nvPr/>
        </p:nvSpPr>
        <p:spPr>
          <a:xfrm xmlns:a="http://schemas.openxmlformats.org/drawingml/2006/main">
            <a:off x="971550" y="2895600"/>
            <a:ext cx="30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500" b="1">
                <a:solidFill>
                  <a:srgbClr val="0E1720"/>
                </a:solidFill>
                <a:latin typeface="Aptos"/>
                <a:ea typeface="Aptos"/>
                <a:cs typeface="Aptos"/>
              </a:defRPr>
            </a:pPr>
            <a:r>
              <a:rPr sz="1500" b="1">
                <a:solidFill>
                  <a:srgbClr val="0E1720"/>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96CCC62-88BF-49CD-8DB7-92E95A4DCB7F}"/>
              </a:ext>
            </a:extLst>
          </p:cNvPr>
          <p:cNvSpPr>
            <a:spLocks xmlns:a="http://schemas.openxmlformats.org/drawingml/2006/main" noGrp="1"/>
          </p:cNvSpPr>
          <p:nvPr/>
        </p:nvSpPr>
        <p:spPr>
          <a:xfrm xmlns:a="http://schemas.openxmlformats.org/drawingml/2006/main">
            <a:off x="1600200" y="2667000"/>
            <a:ext cx="72580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16212D"/>
                </a:solidFill>
                <a:latin typeface="PingFang SC"/>
                <a:ea typeface="PingFang SC"/>
                <a:cs typeface="PingFang SC"/>
              </a:defRPr>
            </a:pPr>
            <a:r>
              <a:rPr sz="2100" b="1">
                <a:solidFill>
                  <a:srgbClr val="16212D"/>
                </a:solidFill>
                <a:latin typeface="PingFang SC"/>
                <a:ea typeface="PingFang SC"/>
                <a:cs typeface="PingFang SC"/>
              </a:rPr>
              <a:t>多集群承载</a:t>
            </a:r>
          </a:p>
        </p:txBody>
      </p:sp>
      <p:sp>
        <p:nvSpPr>
          <p:cNvPr id="9" name="">
            <a:extLst xmlns:a="http://schemas.openxmlformats.org/drawingml/2006/main">
              <a:ext uri="{FF2B5EF4-FFF2-40B4-BE49-F238E27FC236}">
                <a16:creationId xmlns:a16="http://schemas.microsoft.com/office/drawing/2014/main" id="{D1193212-0827-4FB0-9860-020B0372EA99}"/>
              </a:ext>
            </a:extLst>
          </p:cNvPr>
          <p:cNvSpPr>
            <a:spLocks xmlns:a="http://schemas.openxmlformats.org/drawingml/2006/main" noGrp="1"/>
          </p:cNvSpPr>
          <p:nvPr/>
        </p:nvSpPr>
        <p:spPr>
          <a:xfrm xmlns:a="http://schemas.openxmlformats.org/drawingml/2006/main">
            <a:off x="1600200" y="3048000"/>
            <a:ext cx="7258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Workspace（工作区）与实例开始显式绑定目标 Cluster（集群）。</a:t>
            </a:r>
          </a:p>
        </p:txBody>
      </p:sp>
      <p:sp>
        <p:nvSpPr>
          <p:cNvPr id="10" name="lane-index-2">
            <a:extLst xmlns:a="http://schemas.openxmlformats.org/drawingml/2006/main">
              <a:ext uri="{FF2B5EF4-FFF2-40B4-BE49-F238E27FC236}">
                <a16:creationId xmlns:a16="http://schemas.microsoft.com/office/drawing/2014/main" id="{6AA3C78A-634B-45A8-9D04-6B5CFB2B9360}"/>
              </a:ext>
            </a:extLst>
          </p:cNvPr>
          <p:cNvSpPr>
            <a:spLocks xmlns:a="http://schemas.openxmlformats.org/drawingml/2006/main" noGrp="1"/>
          </p:cNvSpPr>
          <p:nvPr/>
        </p:nvSpPr>
        <p:spPr>
          <a:xfrm xmlns:a="http://schemas.openxmlformats.org/drawingml/2006/main">
            <a:off x="9429750" y="2705100"/>
            <a:ext cx="552450" cy="552450"/>
          </a:xfrm>
          <a:prstGeom xmlns:a="http://schemas.openxmlformats.org/drawingml/2006/main" prst="roundRect">
            <a:avLst>
              <a:gd name="adj" fmla="val 20690"/>
            </a:avLst>
          </a:prstGeom>
          <a:solidFill xmlns:a="http://schemas.openxmlformats.org/drawingml/2006/main">
            <a:srgbClr val="52D1DC"/>
          </a:solidFill>
          <a:ln xmlns:a="http://schemas.openxmlformats.org/drawingml/2006/main" w="9525">
            <a:solidFill>
              <a:srgbClr val="D7DEE7"/>
            </a:solidFill>
            <a:prstDash val="solid"/>
          </a:ln>
        </p:spPr>
      </p:sp>
      <p:sp>
        <p:nvSpPr>
          <p:cNvPr id="11" name="">
            <a:extLst xmlns:a="http://schemas.openxmlformats.org/drawingml/2006/main">
              <a:ext uri="{FF2B5EF4-FFF2-40B4-BE49-F238E27FC236}">
                <a16:creationId xmlns:a16="http://schemas.microsoft.com/office/drawing/2014/main" id="{4FF6C206-36BC-47BF-BE99-F7FF47214106}"/>
              </a:ext>
            </a:extLst>
          </p:cNvPr>
          <p:cNvSpPr>
            <a:spLocks xmlns:a="http://schemas.openxmlformats.org/drawingml/2006/main" noGrp="1"/>
          </p:cNvSpPr>
          <p:nvPr/>
        </p:nvSpPr>
        <p:spPr>
          <a:xfrm xmlns:a="http://schemas.openxmlformats.org/drawingml/2006/main">
            <a:off x="9563100" y="2895600"/>
            <a:ext cx="30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500" b="1">
                <a:solidFill>
                  <a:srgbClr val="0E1720"/>
                </a:solidFill>
                <a:latin typeface="Aptos"/>
                <a:ea typeface="Aptos"/>
                <a:cs typeface="Aptos"/>
              </a:defRPr>
            </a:pPr>
            <a:r>
              <a:rPr sz="1500" b="1">
                <a:solidFill>
                  <a:srgbClr val="0E1720"/>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4389F33E-FDFC-47C8-B28C-7867397816A8}"/>
              </a:ext>
            </a:extLst>
          </p:cNvPr>
          <p:cNvSpPr>
            <a:spLocks xmlns:a="http://schemas.openxmlformats.org/drawingml/2006/main" noGrp="1"/>
          </p:cNvSpPr>
          <p:nvPr/>
        </p:nvSpPr>
        <p:spPr>
          <a:xfrm xmlns:a="http://schemas.openxmlformats.org/drawingml/2006/main">
            <a:off x="10191750" y="2667000"/>
            <a:ext cx="72580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16212D"/>
                </a:solidFill>
                <a:latin typeface="PingFang SC"/>
                <a:ea typeface="PingFang SC"/>
                <a:cs typeface="PingFang SC"/>
              </a:defRPr>
            </a:pPr>
            <a:r>
              <a:rPr sz="2100" b="1">
                <a:solidFill>
                  <a:srgbClr val="16212D"/>
                </a:solidFill>
                <a:latin typeface="PingFang SC"/>
                <a:ea typeface="PingFang SC"/>
                <a:cs typeface="PingFang SC"/>
              </a:rPr>
              <a:t>可控协作路由</a:t>
            </a:r>
          </a:p>
        </p:txBody>
      </p:sp>
      <p:sp>
        <p:nvSpPr>
          <p:cNvPr id="13" name="">
            <a:extLst xmlns:a="http://schemas.openxmlformats.org/drawingml/2006/main">
              <a:ext uri="{FF2B5EF4-FFF2-40B4-BE49-F238E27FC236}">
                <a16:creationId xmlns:a16="http://schemas.microsoft.com/office/drawing/2014/main" id="{0242B3EB-483A-4286-B0E3-C7C3D9BC6844}"/>
              </a:ext>
            </a:extLst>
          </p:cNvPr>
          <p:cNvSpPr>
            <a:spLocks xmlns:a="http://schemas.openxmlformats.org/drawingml/2006/main" noGrp="1"/>
          </p:cNvSpPr>
          <p:nvPr/>
        </p:nvSpPr>
        <p:spPr>
          <a:xfrm xmlns:a="http://schemas.openxmlformats.org/drawingml/2006/main">
            <a:off x="10191750" y="3048000"/>
            <a:ext cx="7258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Agent（AI 员工）消息按拓扑可达性流转，黑板访问也有边界。</a:t>
            </a:r>
          </a:p>
        </p:txBody>
      </p:sp>
      <p:sp>
        <p:nvSpPr>
          <p:cNvPr id="14" name="lane-index-3">
            <a:extLst xmlns:a="http://schemas.openxmlformats.org/drawingml/2006/main">
              <a:ext uri="{FF2B5EF4-FFF2-40B4-BE49-F238E27FC236}">
                <a16:creationId xmlns:a16="http://schemas.microsoft.com/office/drawing/2014/main" id="{0CC2F55C-2D0A-4EF9-B709-355E26B143BE}"/>
              </a:ext>
            </a:extLst>
          </p:cNvPr>
          <p:cNvSpPr>
            <a:spLocks xmlns:a="http://schemas.openxmlformats.org/drawingml/2006/main" noGrp="1"/>
          </p:cNvSpPr>
          <p:nvPr/>
        </p:nvSpPr>
        <p:spPr>
          <a:xfrm xmlns:a="http://schemas.openxmlformats.org/drawingml/2006/main">
            <a:off x="838200" y="4476750"/>
            <a:ext cx="552450" cy="552450"/>
          </a:xfrm>
          <a:prstGeom xmlns:a="http://schemas.openxmlformats.org/drawingml/2006/main" prst="roundRect">
            <a:avLst>
              <a:gd name="adj" fmla="val 20690"/>
            </a:avLst>
          </a:prstGeom>
          <a:solidFill xmlns:a="http://schemas.openxmlformats.org/drawingml/2006/main">
            <a:srgbClr val="F6C85F"/>
          </a:solidFill>
          <a:ln xmlns:a="http://schemas.openxmlformats.org/drawingml/2006/main" w="9525">
            <a:solidFill>
              <a:srgbClr val="D7DEE7"/>
            </a:solidFill>
            <a:prstDash val="solid"/>
          </a:ln>
        </p:spPr>
      </p:sp>
      <p:sp>
        <p:nvSpPr>
          <p:cNvPr id="15" name="">
            <a:extLst xmlns:a="http://schemas.openxmlformats.org/drawingml/2006/main">
              <a:ext uri="{FF2B5EF4-FFF2-40B4-BE49-F238E27FC236}">
                <a16:creationId xmlns:a16="http://schemas.microsoft.com/office/drawing/2014/main" id="{44D60B09-785A-42F8-9DE2-B9A5B9974ACE}"/>
              </a:ext>
            </a:extLst>
          </p:cNvPr>
          <p:cNvSpPr>
            <a:spLocks xmlns:a="http://schemas.openxmlformats.org/drawingml/2006/main" noGrp="1"/>
          </p:cNvSpPr>
          <p:nvPr/>
        </p:nvSpPr>
        <p:spPr>
          <a:xfrm xmlns:a="http://schemas.openxmlformats.org/drawingml/2006/main">
            <a:off x="971550" y="4667250"/>
            <a:ext cx="30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500" b="1">
                <a:solidFill>
                  <a:srgbClr val="0E1720"/>
                </a:solidFill>
                <a:latin typeface="Aptos"/>
                <a:ea typeface="Aptos"/>
                <a:cs typeface="Aptos"/>
              </a:defRPr>
            </a:pPr>
            <a:r>
              <a:rPr sz="1500" b="1">
                <a:solidFill>
                  <a:srgbClr val="0E1720"/>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2DA77B2F-E096-4630-8103-17EA8232A75F}"/>
              </a:ext>
            </a:extLst>
          </p:cNvPr>
          <p:cNvSpPr>
            <a:spLocks xmlns:a="http://schemas.openxmlformats.org/drawingml/2006/main" noGrp="1"/>
          </p:cNvSpPr>
          <p:nvPr/>
        </p:nvSpPr>
        <p:spPr>
          <a:xfrm xmlns:a="http://schemas.openxmlformats.org/drawingml/2006/main">
            <a:off x="1600200" y="4457700"/>
            <a:ext cx="72580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16212D"/>
                </a:solidFill>
                <a:latin typeface="PingFang SC"/>
                <a:ea typeface="PingFang SC"/>
                <a:cs typeface="PingFang SC"/>
              </a:defRPr>
            </a:pPr>
            <a:r>
              <a:rPr sz="2100" b="1">
                <a:solidFill>
                  <a:srgbClr val="16212D"/>
                </a:solidFill>
                <a:latin typeface="PingFang SC"/>
                <a:ea typeface="PingFang SC"/>
                <a:cs typeface="PingFang SC"/>
              </a:rPr>
              <a:t>模板资产化</a:t>
            </a:r>
          </a:p>
        </p:txBody>
      </p:sp>
      <p:sp>
        <p:nvSpPr>
          <p:cNvPr id="17" name="">
            <a:extLst xmlns:a="http://schemas.openxmlformats.org/drawingml/2006/main">
              <a:ext uri="{FF2B5EF4-FFF2-40B4-BE49-F238E27FC236}">
                <a16:creationId xmlns:a16="http://schemas.microsoft.com/office/drawing/2014/main" id="{2EB050EA-5F95-4893-81F6-6A3E495DEEE0}"/>
              </a:ext>
            </a:extLst>
          </p:cNvPr>
          <p:cNvSpPr>
            <a:spLocks xmlns:a="http://schemas.openxmlformats.org/drawingml/2006/main" noGrp="1"/>
          </p:cNvSpPr>
          <p:nvPr/>
        </p:nvSpPr>
        <p:spPr>
          <a:xfrm xmlns:a="http://schemas.openxmlformats.org/drawingml/2006/main">
            <a:off x="1600200" y="4838700"/>
            <a:ext cx="7258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模板可以更新、覆盖、删除，并支撑拓扑交互式一键部署。</a:t>
            </a:r>
          </a:p>
        </p:txBody>
      </p:sp>
      <p:sp>
        <p:nvSpPr>
          <p:cNvPr id="18" name="lane-index-4">
            <a:extLst xmlns:a="http://schemas.openxmlformats.org/drawingml/2006/main">
              <a:ext uri="{FF2B5EF4-FFF2-40B4-BE49-F238E27FC236}">
                <a16:creationId xmlns:a16="http://schemas.microsoft.com/office/drawing/2014/main" id="{DE3751F5-566A-463E-A32E-CDE9110537E8}"/>
              </a:ext>
            </a:extLst>
          </p:cNvPr>
          <p:cNvSpPr>
            <a:spLocks xmlns:a="http://schemas.openxmlformats.org/drawingml/2006/main" noGrp="1"/>
          </p:cNvSpPr>
          <p:nvPr/>
        </p:nvSpPr>
        <p:spPr>
          <a:xfrm xmlns:a="http://schemas.openxmlformats.org/drawingml/2006/main">
            <a:off x="9429750" y="4476750"/>
            <a:ext cx="552450" cy="552450"/>
          </a:xfrm>
          <a:prstGeom xmlns:a="http://schemas.openxmlformats.org/drawingml/2006/main" prst="roundRect">
            <a:avLst>
              <a:gd name="adj" fmla="val 20690"/>
            </a:avLst>
          </a:prstGeom>
          <a:solidFill xmlns:a="http://schemas.openxmlformats.org/drawingml/2006/main">
            <a:srgbClr val="FF6B6B"/>
          </a:solidFill>
          <a:ln xmlns:a="http://schemas.openxmlformats.org/drawingml/2006/main" w="9525">
            <a:solidFill>
              <a:srgbClr val="D7DEE7"/>
            </a:solidFill>
            <a:prstDash val="solid"/>
          </a:ln>
        </p:spPr>
      </p:sp>
      <p:sp>
        <p:nvSpPr>
          <p:cNvPr id="19" name="">
            <a:extLst xmlns:a="http://schemas.openxmlformats.org/drawingml/2006/main">
              <a:ext uri="{FF2B5EF4-FFF2-40B4-BE49-F238E27FC236}">
                <a16:creationId xmlns:a16="http://schemas.microsoft.com/office/drawing/2014/main" id="{4A02FF32-E1DF-44D9-A043-1F6DA5C2EFB9}"/>
              </a:ext>
            </a:extLst>
          </p:cNvPr>
          <p:cNvSpPr>
            <a:spLocks xmlns:a="http://schemas.openxmlformats.org/drawingml/2006/main" noGrp="1"/>
          </p:cNvSpPr>
          <p:nvPr/>
        </p:nvSpPr>
        <p:spPr>
          <a:xfrm xmlns:a="http://schemas.openxmlformats.org/drawingml/2006/main">
            <a:off x="9563100" y="4667250"/>
            <a:ext cx="30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500" b="1">
                <a:solidFill>
                  <a:srgbClr val="0E1720"/>
                </a:solidFill>
                <a:latin typeface="Aptos"/>
                <a:ea typeface="Aptos"/>
                <a:cs typeface="Aptos"/>
              </a:defRPr>
            </a:pPr>
            <a:r>
              <a:rPr sz="1500" b="1">
                <a:solidFill>
                  <a:srgbClr val="0E1720"/>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B9E7E933-CADE-4DFC-9035-6348BF5F2E34}"/>
              </a:ext>
            </a:extLst>
          </p:cNvPr>
          <p:cNvSpPr>
            <a:spLocks xmlns:a="http://schemas.openxmlformats.org/drawingml/2006/main" noGrp="1"/>
          </p:cNvSpPr>
          <p:nvPr/>
        </p:nvSpPr>
        <p:spPr>
          <a:xfrm xmlns:a="http://schemas.openxmlformats.org/drawingml/2006/main">
            <a:off x="10191750" y="4457700"/>
            <a:ext cx="72580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16212D"/>
                </a:solidFill>
                <a:latin typeface="PingFang SC"/>
                <a:ea typeface="PingFang SC"/>
                <a:cs typeface="PingFang SC"/>
              </a:defRPr>
            </a:pPr>
            <a:r>
              <a:rPr sz="2100" b="1">
                <a:solidFill>
                  <a:srgbClr val="16212D"/>
                </a:solidFill>
                <a:latin typeface="PingFang SC"/>
                <a:ea typeface="PingFang SC"/>
                <a:cs typeface="PingFang SC"/>
              </a:rPr>
              <a:t>模型入口统一</a:t>
            </a:r>
          </a:p>
        </p:txBody>
      </p:sp>
      <p:sp>
        <p:nvSpPr>
          <p:cNvPr id="21" name="">
            <a:extLst xmlns:a="http://schemas.openxmlformats.org/drawingml/2006/main">
              <a:ext uri="{FF2B5EF4-FFF2-40B4-BE49-F238E27FC236}">
                <a16:creationId xmlns:a16="http://schemas.microsoft.com/office/drawing/2014/main" id="{EB89A736-C459-4916-AE8E-3F8BD00DBABA}"/>
              </a:ext>
            </a:extLst>
          </p:cNvPr>
          <p:cNvSpPr>
            <a:spLocks xmlns:a="http://schemas.openxmlformats.org/drawingml/2006/main" noGrp="1"/>
          </p:cNvSpPr>
          <p:nvPr/>
        </p:nvSpPr>
        <p:spPr>
          <a:xfrm xmlns:a="http://schemas.openxmlformats.org/drawingml/2006/main">
            <a:off x="10191750" y="4838700"/>
            <a:ext cx="7258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LLM Provider（大模型供应商）从 Key 管理扩展成团队模型方案。</a:t>
            </a:r>
          </a:p>
        </p:txBody>
      </p:sp>
      <p:sp>
        <p:nvSpPr>
          <p:cNvPr id="22" name="lane-index-5">
            <a:extLst xmlns:a="http://schemas.openxmlformats.org/drawingml/2006/main">
              <a:ext uri="{FF2B5EF4-FFF2-40B4-BE49-F238E27FC236}">
                <a16:creationId xmlns:a16="http://schemas.microsoft.com/office/drawing/2014/main" id="{9CE96325-852D-46D5-938D-817FAE5687F5}"/>
              </a:ext>
            </a:extLst>
          </p:cNvPr>
          <p:cNvSpPr>
            <a:spLocks xmlns:a="http://schemas.openxmlformats.org/drawingml/2006/main" noGrp="1"/>
          </p:cNvSpPr>
          <p:nvPr/>
        </p:nvSpPr>
        <p:spPr>
          <a:xfrm xmlns:a="http://schemas.openxmlformats.org/drawingml/2006/main">
            <a:off x="838200" y="6267450"/>
            <a:ext cx="552450" cy="552450"/>
          </a:xfrm>
          <a:prstGeom xmlns:a="http://schemas.openxmlformats.org/drawingml/2006/main" prst="roundRect">
            <a:avLst>
              <a:gd name="adj" fmla="val 20690"/>
            </a:avLst>
          </a:prstGeom>
          <a:solidFill xmlns:a="http://schemas.openxmlformats.org/drawingml/2006/main">
            <a:srgbClr val="3366FF"/>
          </a:solidFill>
          <a:ln xmlns:a="http://schemas.openxmlformats.org/drawingml/2006/main" w="9525">
            <a:solidFill>
              <a:srgbClr val="D7DEE7"/>
            </a:solidFill>
            <a:prstDash val="solid"/>
          </a:ln>
        </p:spPr>
      </p:sp>
      <p:sp>
        <p:nvSpPr>
          <p:cNvPr id="23" name="">
            <a:extLst xmlns:a="http://schemas.openxmlformats.org/drawingml/2006/main">
              <a:ext uri="{FF2B5EF4-FFF2-40B4-BE49-F238E27FC236}">
                <a16:creationId xmlns:a16="http://schemas.microsoft.com/office/drawing/2014/main" id="{A7245CD6-DB95-475A-9C30-99A5F4E56E75}"/>
              </a:ext>
            </a:extLst>
          </p:cNvPr>
          <p:cNvSpPr>
            <a:spLocks xmlns:a="http://schemas.openxmlformats.org/drawingml/2006/main" noGrp="1"/>
          </p:cNvSpPr>
          <p:nvPr/>
        </p:nvSpPr>
        <p:spPr>
          <a:xfrm xmlns:a="http://schemas.openxmlformats.org/drawingml/2006/main">
            <a:off x="971550" y="6457950"/>
            <a:ext cx="30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500" b="1">
                <a:solidFill>
                  <a:srgbClr val="0E1720"/>
                </a:solidFill>
                <a:latin typeface="Aptos"/>
                <a:ea typeface="Aptos"/>
                <a:cs typeface="Aptos"/>
              </a:defRPr>
            </a:pPr>
            <a:r>
              <a:rPr sz="1500" b="1">
                <a:solidFill>
                  <a:srgbClr val="0E1720"/>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F027141B-1EDD-44D0-A956-A1DB7A535E34}"/>
              </a:ext>
            </a:extLst>
          </p:cNvPr>
          <p:cNvSpPr>
            <a:spLocks xmlns:a="http://schemas.openxmlformats.org/drawingml/2006/main" noGrp="1"/>
          </p:cNvSpPr>
          <p:nvPr/>
        </p:nvSpPr>
        <p:spPr>
          <a:xfrm xmlns:a="http://schemas.openxmlformats.org/drawingml/2006/main">
            <a:off x="1600200" y="6229350"/>
            <a:ext cx="72580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16212D"/>
                </a:solidFill>
                <a:latin typeface="PingFang SC"/>
                <a:ea typeface="PingFang SC"/>
                <a:cs typeface="PingFang SC"/>
              </a:defRPr>
            </a:pPr>
            <a:r>
              <a:rPr sz="2100" b="1">
                <a:solidFill>
                  <a:srgbClr val="16212D"/>
                </a:solidFill>
                <a:latin typeface="PingFang SC"/>
                <a:ea typeface="PingFang SC"/>
                <a:cs typeface="PingFang SC"/>
              </a:rPr>
              <a:t>实例生命周期闭环</a:t>
            </a:r>
          </a:p>
        </p:txBody>
      </p:sp>
      <p:sp>
        <p:nvSpPr>
          <p:cNvPr id="25" name="">
            <a:extLst xmlns:a="http://schemas.openxmlformats.org/drawingml/2006/main">
              <a:ext uri="{FF2B5EF4-FFF2-40B4-BE49-F238E27FC236}">
                <a16:creationId xmlns:a16="http://schemas.microsoft.com/office/drawing/2014/main" id="{99F6A84C-9913-4A5B-9E80-C0D2625429D1}"/>
              </a:ext>
            </a:extLst>
          </p:cNvPr>
          <p:cNvSpPr>
            <a:spLocks xmlns:a="http://schemas.openxmlformats.org/drawingml/2006/main" noGrp="1"/>
          </p:cNvSpPr>
          <p:nvPr/>
        </p:nvSpPr>
        <p:spPr>
          <a:xfrm xmlns:a="http://schemas.openxmlformats.org/drawingml/2006/main">
            <a:off x="1600200" y="6610350"/>
            <a:ext cx="7258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备份、恢复、克隆、重建补上生产运维必需动作。</a:t>
            </a:r>
          </a:p>
        </p:txBody>
      </p:sp>
      <p:sp>
        <p:nvSpPr>
          <p:cNvPr id="26" name="lane-index-6">
            <a:extLst xmlns:a="http://schemas.openxmlformats.org/drawingml/2006/main">
              <a:ext uri="{FF2B5EF4-FFF2-40B4-BE49-F238E27FC236}">
                <a16:creationId xmlns:a16="http://schemas.microsoft.com/office/drawing/2014/main" id="{0E0627C0-9F79-493D-B0FF-21CF626CE250}"/>
              </a:ext>
            </a:extLst>
          </p:cNvPr>
          <p:cNvSpPr>
            <a:spLocks xmlns:a="http://schemas.openxmlformats.org/drawingml/2006/main" noGrp="1"/>
          </p:cNvSpPr>
          <p:nvPr/>
        </p:nvSpPr>
        <p:spPr>
          <a:xfrm xmlns:a="http://schemas.openxmlformats.org/drawingml/2006/main">
            <a:off x="9429750" y="6267450"/>
            <a:ext cx="552450" cy="552450"/>
          </a:xfrm>
          <a:prstGeom xmlns:a="http://schemas.openxmlformats.org/drawingml/2006/main" prst="roundRect">
            <a:avLst>
              <a:gd name="adj" fmla="val 20690"/>
            </a:avLst>
          </a:prstGeom>
          <a:solidFill xmlns:a="http://schemas.openxmlformats.org/drawingml/2006/main">
            <a:srgbClr val="8AE6B0"/>
          </a:solidFill>
          <a:ln xmlns:a="http://schemas.openxmlformats.org/drawingml/2006/main" w="9525">
            <a:solidFill>
              <a:srgbClr val="D7DEE7"/>
            </a:solidFill>
            <a:prstDash val="solid"/>
          </a:ln>
        </p:spPr>
      </p:sp>
      <p:sp>
        <p:nvSpPr>
          <p:cNvPr id="27" name="">
            <a:extLst xmlns:a="http://schemas.openxmlformats.org/drawingml/2006/main">
              <a:ext uri="{FF2B5EF4-FFF2-40B4-BE49-F238E27FC236}">
                <a16:creationId xmlns:a16="http://schemas.microsoft.com/office/drawing/2014/main" id="{5212507F-8D1F-4AF9-B2D4-9E1370B9D8EF}"/>
              </a:ext>
            </a:extLst>
          </p:cNvPr>
          <p:cNvSpPr>
            <a:spLocks xmlns:a="http://schemas.openxmlformats.org/drawingml/2006/main" noGrp="1"/>
          </p:cNvSpPr>
          <p:nvPr/>
        </p:nvSpPr>
        <p:spPr>
          <a:xfrm xmlns:a="http://schemas.openxmlformats.org/drawingml/2006/main">
            <a:off x="9563100" y="6457950"/>
            <a:ext cx="30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500" b="1">
                <a:solidFill>
                  <a:srgbClr val="0E1720"/>
                </a:solidFill>
                <a:latin typeface="Aptos"/>
                <a:ea typeface="Aptos"/>
                <a:cs typeface="Aptos"/>
              </a:defRPr>
            </a:pPr>
            <a:r>
              <a:rPr sz="1500" b="1">
                <a:solidFill>
                  <a:srgbClr val="0E1720"/>
                </a:solidFill>
                <a:latin typeface="Aptos"/>
                <a:ea typeface="Aptos"/>
                <a:cs typeface="Aptos"/>
              </a:rPr>
              <a:t>06</a:t>
            </a:r>
          </a:p>
        </p:txBody>
      </p:sp>
      <p:sp>
        <p:nvSpPr>
          <p:cNvPr id="28" name="">
            <a:extLst xmlns:a="http://schemas.openxmlformats.org/drawingml/2006/main">
              <a:ext uri="{FF2B5EF4-FFF2-40B4-BE49-F238E27FC236}">
                <a16:creationId xmlns:a16="http://schemas.microsoft.com/office/drawing/2014/main" id="{BD304585-7223-4373-A54D-4FF2E119CB2C}"/>
              </a:ext>
            </a:extLst>
          </p:cNvPr>
          <p:cNvSpPr>
            <a:spLocks xmlns:a="http://schemas.openxmlformats.org/drawingml/2006/main" noGrp="1"/>
          </p:cNvSpPr>
          <p:nvPr/>
        </p:nvSpPr>
        <p:spPr>
          <a:xfrm xmlns:a="http://schemas.openxmlformats.org/drawingml/2006/main">
            <a:off x="10191750" y="6229350"/>
            <a:ext cx="72580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16212D"/>
                </a:solidFill>
                <a:latin typeface="PingFang SC"/>
                <a:ea typeface="PingFang SC"/>
                <a:cs typeface="PingFang SC"/>
              </a:defRPr>
            </a:pPr>
            <a:r>
              <a:rPr sz="2100" b="1">
                <a:solidFill>
                  <a:srgbClr val="16212D"/>
                </a:solidFill>
                <a:latin typeface="PingFang SC"/>
                <a:ea typeface="PingFang SC"/>
                <a:cs typeface="PingFang SC"/>
              </a:rPr>
              <a:t>绩效与失败可见</a:t>
            </a:r>
          </a:p>
        </p:txBody>
      </p:sp>
      <p:sp>
        <p:nvSpPr>
          <p:cNvPr id="29" name="">
            <a:extLst xmlns:a="http://schemas.openxmlformats.org/drawingml/2006/main">
              <a:ext uri="{FF2B5EF4-FFF2-40B4-BE49-F238E27FC236}">
                <a16:creationId xmlns:a16="http://schemas.microsoft.com/office/drawing/2014/main" id="{D00091FD-35D6-49E4-A702-B67B50C4EAAE}"/>
              </a:ext>
            </a:extLst>
          </p:cNvPr>
          <p:cNvSpPr>
            <a:spLocks xmlns:a="http://schemas.openxmlformats.org/drawingml/2006/main" noGrp="1"/>
          </p:cNvSpPr>
          <p:nvPr/>
        </p:nvSpPr>
        <p:spPr>
          <a:xfrm xmlns:a="http://schemas.openxmlformats.org/drawingml/2006/main">
            <a:off x="10191750" y="6610350"/>
            <a:ext cx="7258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任务失败、Token（令牌）消耗、ROI（投入产出比）进入指标面板。</a:t>
            </a:r>
          </a:p>
        </p:txBody>
      </p:sp>
      <p:sp>
        <p:nvSpPr>
          <p:cNvPr id="30" name="lane-index-7">
            <a:extLst xmlns:a="http://schemas.openxmlformats.org/drawingml/2006/main">
              <a:ext uri="{FF2B5EF4-FFF2-40B4-BE49-F238E27FC236}">
                <a16:creationId xmlns:a16="http://schemas.microsoft.com/office/drawing/2014/main" id="{041BE37D-E23F-4244-801B-E81817E2EF25}"/>
              </a:ext>
            </a:extLst>
          </p:cNvPr>
          <p:cNvSpPr>
            <a:spLocks xmlns:a="http://schemas.openxmlformats.org/drawingml/2006/main" noGrp="1"/>
          </p:cNvSpPr>
          <p:nvPr/>
        </p:nvSpPr>
        <p:spPr>
          <a:xfrm xmlns:a="http://schemas.openxmlformats.org/drawingml/2006/main">
            <a:off x="838200" y="8058150"/>
            <a:ext cx="552450" cy="552450"/>
          </a:xfrm>
          <a:prstGeom xmlns:a="http://schemas.openxmlformats.org/drawingml/2006/main" prst="roundRect">
            <a:avLst>
              <a:gd name="adj" fmla="val 20690"/>
            </a:avLst>
          </a:prstGeom>
          <a:solidFill xmlns:a="http://schemas.openxmlformats.org/drawingml/2006/main">
            <a:srgbClr val="52D1DC"/>
          </a:solidFill>
          <a:ln xmlns:a="http://schemas.openxmlformats.org/drawingml/2006/main" w="9525">
            <a:solidFill>
              <a:srgbClr val="D7DEE7"/>
            </a:solidFill>
            <a:prstDash val="solid"/>
          </a:ln>
        </p:spPr>
      </p:sp>
      <p:sp>
        <p:nvSpPr>
          <p:cNvPr id="31" name="">
            <a:extLst xmlns:a="http://schemas.openxmlformats.org/drawingml/2006/main">
              <a:ext uri="{FF2B5EF4-FFF2-40B4-BE49-F238E27FC236}">
                <a16:creationId xmlns:a16="http://schemas.microsoft.com/office/drawing/2014/main" id="{0A90D79B-CD78-4C11-A38B-F959B1994AF8}"/>
              </a:ext>
            </a:extLst>
          </p:cNvPr>
          <p:cNvSpPr>
            <a:spLocks xmlns:a="http://schemas.openxmlformats.org/drawingml/2006/main" noGrp="1"/>
          </p:cNvSpPr>
          <p:nvPr/>
        </p:nvSpPr>
        <p:spPr>
          <a:xfrm xmlns:a="http://schemas.openxmlformats.org/drawingml/2006/main">
            <a:off x="971550" y="8248650"/>
            <a:ext cx="30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500" b="1">
                <a:solidFill>
                  <a:srgbClr val="0E1720"/>
                </a:solidFill>
                <a:latin typeface="Aptos"/>
                <a:ea typeface="Aptos"/>
                <a:cs typeface="Aptos"/>
              </a:defRPr>
            </a:pPr>
            <a:r>
              <a:rPr sz="1500" b="1">
                <a:solidFill>
                  <a:srgbClr val="0E1720"/>
                </a:solidFill>
                <a:latin typeface="Aptos"/>
                <a:ea typeface="Aptos"/>
                <a:cs typeface="Aptos"/>
              </a:rPr>
              <a:t>07</a:t>
            </a:r>
          </a:p>
        </p:txBody>
      </p:sp>
      <p:sp>
        <p:nvSpPr>
          <p:cNvPr id="32" name="">
            <a:extLst xmlns:a="http://schemas.openxmlformats.org/drawingml/2006/main">
              <a:ext uri="{FF2B5EF4-FFF2-40B4-BE49-F238E27FC236}">
                <a16:creationId xmlns:a16="http://schemas.microsoft.com/office/drawing/2014/main" id="{07C32C76-5831-4157-BBC3-CCA89C7E8D2D}"/>
              </a:ext>
            </a:extLst>
          </p:cNvPr>
          <p:cNvSpPr>
            <a:spLocks xmlns:a="http://schemas.openxmlformats.org/drawingml/2006/main" noGrp="1"/>
          </p:cNvSpPr>
          <p:nvPr/>
        </p:nvSpPr>
        <p:spPr>
          <a:xfrm xmlns:a="http://schemas.openxmlformats.org/drawingml/2006/main">
            <a:off x="1600200" y="8020050"/>
            <a:ext cx="72580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16212D"/>
                </a:solidFill>
                <a:latin typeface="PingFang SC"/>
                <a:ea typeface="PingFang SC"/>
                <a:cs typeface="PingFang SC"/>
              </a:defRPr>
            </a:pPr>
            <a:r>
              <a:rPr sz="2100" b="1">
                <a:solidFill>
                  <a:srgbClr val="16212D"/>
                </a:solidFill>
                <a:latin typeface="PingFang SC"/>
                <a:ea typeface="PingFang SC"/>
                <a:cs typeface="PingFang SC"/>
              </a:rPr>
              <a:t>底座可治理</a:t>
            </a:r>
          </a:p>
        </p:txBody>
      </p:sp>
      <p:sp>
        <p:nvSpPr>
          <p:cNvPr id="33" name="">
            <a:extLst xmlns:a="http://schemas.openxmlformats.org/drawingml/2006/main">
              <a:ext uri="{FF2B5EF4-FFF2-40B4-BE49-F238E27FC236}">
                <a16:creationId xmlns:a16="http://schemas.microsoft.com/office/drawing/2014/main" id="{B0AF1144-8880-4985-980D-6824B3D5A6A7}"/>
              </a:ext>
            </a:extLst>
          </p:cNvPr>
          <p:cNvSpPr>
            <a:spLocks xmlns:a="http://schemas.openxmlformats.org/drawingml/2006/main" noGrp="1"/>
          </p:cNvSpPr>
          <p:nvPr/>
        </p:nvSpPr>
        <p:spPr>
          <a:xfrm xmlns:a="http://schemas.openxmlformats.org/drawingml/2006/main">
            <a:off x="1600200" y="8401050"/>
            <a:ext cx="7258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NetworkPolicy（网络策略）、StorageClass（存储类）、版本目录逐步可配置。</a:t>
            </a:r>
          </a:p>
        </p:txBody>
      </p:sp>
      <p:sp>
        <p:nvSpPr>
          <p:cNvPr id="34" name="footer-rule">
            <a:extLst xmlns:a="http://schemas.openxmlformats.org/drawingml/2006/main">
              <a:ext uri="{FF2B5EF4-FFF2-40B4-BE49-F238E27FC236}">
                <a16:creationId xmlns:a16="http://schemas.microsoft.com/office/drawing/2014/main" id="{3BC2CFB4-2CD1-4C00-B350-AA36D710F7BE}"/>
              </a:ext>
            </a:extLst>
          </p:cNvPr>
          <p:cNvSpPr>
            <a:spLocks xmlns:a="http://schemas.openxmlformats.org/drawingml/2006/main" noGrp="1"/>
          </p:cNvSpPr>
          <p:nvPr/>
        </p:nvSpPr>
        <p:spPr>
          <a:xfrm xmlns:a="http://schemas.openxmlformats.org/drawingml/2006/main">
            <a:off x="838200" y="9544050"/>
            <a:ext cx="1223010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35" name="footer-label">
            <a:extLst xmlns:a="http://schemas.openxmlformats.org/drawingml/2006/main">
              <a:ext uri="{FF2B5EF4-FFF2-40B4-BE49-F238E27FC236}">
                <a16:creationId xmlns:a16="http://schemas.microsoft.com/office/drawing/2014/main" id="{AD64217D-3152-4D16-B92E-AA3D1A23D64F}"/>
              </a:ext>
            </a:extLst>
          </p:cNvPr>
          <p:cNvSpPr>
            <a:spLocks xmlns:a="http://schemas.openxmlformats.org/drawingml/2006/main" noGrp="1"/>
          </p:cNvSpPr>
          <p:nvPr/>
        </p:nvSpPr>
        <p:spPr>
          <a:xfrm xmlns:a="http://schemas.openxmlformats.org/drawingml/2006/main">
            <a:off x="13220700" y="9410700"/>
            <a:ext cx="4229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依据：2026-04-01 至 2026-04-27 本地 git log（主仓库 + ee 仓库）</a:t>
            </a:r>
          </a:p>
        </p:txBody>
      </p:sp>
    </p:spTree>
    <p:extLst>
      <p:ext uri="{BB962C8B-B14F-4D97-AF65-F5344CB8AC3E}">
        <p14:creationId xmlns:p14="http://schemas.microsoft.com/office/powerpoint/2010/main" val="3874692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D708C0D0-2895-45B8-87F4-E56422B8A13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EEF4EF"/>
          </a:solidFill>
          <a:ln xmlns:a="http://schemas.openxmlformats.org/drawingml/2006/main" w="0">
            <a:solidFill>
              <a:srgbClr val="EEF4EF"/>
            </a:solidFill>
            <a:prstDash val="solid"/>
          </a:ln>
        </p:spPr>
      </p:sp>
      <p:sp>
        <p:nvSpPr>
          <p:cNvPr id="2" name="kicker-rule">
            <a:extLst xmlns:a="http://schemas.openxmlformats.org/drawingml/2006/main">
              <a:ext uri="{FF2B5EF4-FFF2-40B4-BE49-F238E27FC236}">
                <a16:creationId xmlns:a16="http://schemas.microsoft.com/office/drawing/2014/main" id="{7EF5831F-68D4-4415-9ED9-91A49103983B}"/>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3" name="kicker">
            <a:extLst xmlns:a="http://schemas.openxmlformats.org/drawingml/2006/main">
              <a:ext uri="{FF2B5EF4-FFF2-40B4-BE49-F238E27FC236}">
                <a16:creationId xmlns:a16="http://schemas.microsoft.com/office/drawing/2014/main" id="{28EE637D-EA44-44EB-946B-C941256790F5}"/>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5B6875"/>
                </a:solidFill>
                <a:latin typeface="PingFang SC"/>
                <a:ea typeface="PingFang SC"/>
                <a:cs typeface="PingFang SC"/>
              </a:defRPr>
            </a:pPr>
            <a:r>
              <a:rPr sz="1350" b="1">
                <a:solidFill>
                  <a:srgbClr val="5B6875"/>
                </a:solidFill>
                <a:latin typeface="PingFang SC"/>
                <a:ea typeface="PingFang SC"/>
                <a:cs typeface="PingFang SC"/>
              </a:rPr>
              <a:t>01 多集群</a:t>
            </a:r>
          </a:p>
        </p:txBody>
      </p:sp>
      <p:sp>
        <p:nvSpPr>
          <p:cNvPr id="4" name="slide-title">
            <a:extLst xmlns:a="http://schemas.openxmlformats.org/drawingml/2006/main">
              <a:ext uri="{FF2B5EF4-FFF2-40B4-BE49-F238E27FC236}">
                <a16:creationId xmlns:a16="http://schemas.microsoft.com/office/drawing/2014/main" id="{E57BC2F2-D72C-4F7F-99B7-619FFF8A281B}"/>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16212D"/>
                </a:solidFill>
                <a:latin typeface="PingFang SC"/>
                <a:ea typeface="PingFang SC"/>
                <a:cs typeface="PingFang SC"/>
              </a:defRPr>
            </a:pPr>
            <a:r>
              <a:rPr sz="3900" b="1">
                <a:solidFill>
                  <a:srgbClr val="16212D"/>
                </a:solidFill>
                <a:latin typeface="PingFang SC"/>
                <a:ea typeface="PingFang SC"/>
                <a:cs typeface="PingFang SC"/>
              </a:rPr>
              <a:t>多集群能力成型：办公室和实例开始知道自己部署在哪里</a:t>
            </a:r>
          </a:p>
        </p:txBody>
      </p:sp>
      <p:sp>
        <p:nvSpPr>
          <p:cNvPr id="5" name="slide-subtitle">
            <a:extLst xmlns:a="http://schemas.openxmlformats.org/drawingml/2006/main">
              <a:ext uri="{FF2B5EF4-FFF2-40B4-BE49-F238E27FC236}">
                <a16:creationId xmlns:a16="http://schemas.microsoft.com/office/drawing/2014/main" id="{850512C3-B810-44F0-B1D0-5196B31CCF02}"/>
              </a:ext>
            </a:extLst>
          </p:cNvPr>
          <p:cNvSpPr>
            <a:spLocks xmlns:a="http://schemas.openxmlformats.org/drawingml/2006/main" noGrp="1"/>
          </p:cNvSpPr>
          <p:nvPr/>
        </p:nvSpPr>
        <p:spPr>
          <a:xfrm xmlns:a="http://schemas.openxmlformats.org/drawingml/2006/main">
            <a:off x="838200" y="1619250"/>
            <a:ext cx="9105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5B6875"/>
                </a:solidFill>
                <a:latin typeface="PingFang SC"/>
                <a:ea typeface="PingFang SC"/>
                <a:cs typeface="PingFang SC"/>
              </a:defRPr>
            </a:pPr>
            <a:r>
              <a:rPr sz="1800">
                <a:solidFill>
                  <a:srgbClr val="5B6875"/>
                </a:solidFill>
                <a:latin typeface="PingFang SC"/>
                <a:ea typeface="PingFang SC"/>
                <a:cs typeface="PingFang SC"/>
              </a:rPr>
              <a:t>四月的变化让 CE/EE 都不再被单集群假设锁住，后续才能承载更复杂的组织和环境边界。</a:t>
            </a:r>
          </a:p>
        </p:txBody>
      </p:sp>
      <p:sp>
        <p:nvSpPr>
          <p:cNvPr id="6" name="">
            <a:extLst xmlns:a="http://schemas.openxmlformats.org/drawingml/2006/main">
              <a:ext uri="{FF2B5EF4-FFF2-40B4-BE49-F238E27FC236}">
                <a16:creationId xmlns:a16="http://schemas.microsoft.com/office/drawing/2014/main" id="{6DF94939-AE1C-4B85-8C83-0B909DDB090D}"/>
              </a:ext>
            </a:extLst>
          </p:cNvPr>
          <p:cNvSpPr>
            <a:spLocks xmlns:a="http://schemas.openxmlformats.org/drawingml/2006/main" noGrp="1"/>
          </p:cNvSpPr>
          <p:nvPr/>
        </p:nvSpPr>
        <p:spPr>
          <a:xfrm xmlns:a="http://schemas.openxmlformats.org/drawingml/2006/main">
            <a:off x="838200" y="4895850"/>
            <a:ext cx="5715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3366FF"/>
                </a:solidFill>
                <a:latin typeface="Aptos"/>
                <a:ea typeface="Aptos"/>
                <a:cs typeface="Aptos"/>
              </a:defRPr>
            </a:pPr>
            <a:r>
              <a:rPr sz="4050" b="1">
                <a:solidFill>
                  <a:srgbClr val="3366FF"/>
                </a:solidFill>
                <a:latin typeface="Aptos"/>
                <a:ea typeface="Aptos"/>
                <a:cs typeface="Aptos"/>
              </a:rPr>
              <a:t>cluster_id</a:t>
            </a:r>
          </a:p>
        </p:txBody>
      </p:sp>
      <p:sp>
        <p:nvSpPr>
          <p:cNvPr id="7" name="">
            <a:extLst xmlns:a="http://schemas.openxmlformats.org/drawingml/2006/main">
              <a:ext uri="{FF2B5EF4-FFF2-40B4-BE49-F238E27FC236}">
                <a16:creationId xmlns:a16="http://schemas.microsoft.com/office/drawing/2014/main" id="{3DF1A7ED-510B-4375-A2C6-D95B861BD7CA}"/>
              </a:ext>
            </a:extLst>
          </p:cNvPr>
          <p:cNvSpPr>
            <a:spLocks xmlns:a="http://schemas.openxmlformats.org/drawingml/2006/main" noGrp="1"/>
          </p:cNvSpPr>
          <p:nvPr/>
        </p:nvSpPr>
        <p:spPr>
          <a:xfrm xmlns:a="http://schemas.openxmlformats.org/drawingml/2006/main">
            <a:off x="838200" y="5638800"/>
            <a:ext cx="57150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a:solidFill>
                  <a:srgbClr val="16212D"/>
                </a:solidFill>
                <a:latin typeface="PingFang SC"/>
                <a:ea typeface="PingFang SC"/>
                <a:cs typeface="PingFang SC"/>
              </a:defRPr>
            </a:pPr>
            <a:r>
              <a:rPr sz="2100">
                <a:solidFill>
                  <a:srgbClr val="16212D"/>
                </a:solidFill>
                <a:latin typeface="PingFang SC"/>
                <a:ea typeface="PingFang SC"/>
                <a:cs typeface="PingFang SC"/>
              </a:rPr>
              <a:t>（集群 ID）成为 Workspace（工作区）和部署流程的显式坐标。</a:t>
            </a:r>
          </a:p>
        </p:txBody>
      </p:sp>
      <p:sp>
        <p:nvSpPr>
          <p:cNvPr id="8" name="">
            <a:extLst xmlns:a="http://schemas.openxmlformats.org/drawingml/2006/main">
              <a:ext uri="{FF2B5EF4-FFF2-40B4-BE49-F238E27FC236}">
                <a16:creationId xmlns:a16="http://schemas.microsoft.com/office/drawing/2014/main" id="{6F778777-0422-49D2-849A-4F959437A30F}"/>
              </a:ext>
            </a:extLst>
          </p:cNvPr>
          <p:cNvSpPr>
            <a:spLocks xmlns:a="http://schemas.openxmlformats.org/drawingml/2006/main" noGrp="1"/>
          </p:cNvSpPr>
          <p:nvPr/>
        </p:nvSpPr>
        <p:spPr>
          <a:xfrm xmlns:a="http://schemas.openxmlformats.org/drawingml/2006/main">
            <a:off x="838200" y="6496050"/>
            <a:ext cx="20955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9" name="step-rule-创建办公室可选目标集群">
            <a:extLst xmlns:a="http://schemas.openxmlformats.org/drawingml/2006/main">
              <a:ext uri="{FF2B5EF4-FFF2-40B4-BE49-F238E27FC236}">
                <a16:creationId xmlns:a16="http://schemas.microsoft.com/office/drawing/2014/main" id="{10DE6C6C-1BB2-46F0-89B0-F7C7B59F8F03}"/>
              </a:ext>
            </a:extLst>
          </p:cNvPr>
          <p:cNvSpPr>
            <a:spLocks xmlns:a="http://schemas.openxmlformats.org/drawingml/2006/main" noGrp="1"/>
          </p:cNvSpPr>
          <p:nvPr/>
        </p:nvSpPr>
        <p:spPr>
          <a:xfrm xmlns:a="http://schemas.openxmlformats.org/drawingml/2006/main">
            <a:off x="7296150" y="4191000"/>
            <a:ext cx="104775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10" name="">
            <a:extLst xmlns:a="http://schemas.openxmlformats.org/drawingml/2006/main">
              <a:ext uri="{FF2B5EF4-FFF2-40B4-BE49-F238E27FC236}">
                <a16:creationId xmlns:a16="http://schemas.microsoft.com/office/drawing/2014/main" id="{91C31479-B781-42F4-B815-E22D6FD9487F}"/>
              </a:ext>
            </a:extLst>
          </p:cNvPr>
          <p:cNvSpPr>
            <a:spLocks xmlns:a="http://schemas.openxmlformats.org/drawingml/2006/main" noGrp="1"/>
          </p:cNvSpPr>
          <p:nvPr/>
        </p:nvSpPr>
        <p:spPr>
          <a:xfrm xmlns:a="http://schemas.openxmlformats.org/drawingml/2006/main">
            <a:off x="7296150" y="4343400"/>
            <a:ext cx="101536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创建办公室可选目标集群</a:t>
            </a:r>
          </a:p>
        </p:txBody>
      </p:sp>
      <p:sp>
        <p:nvSpPr>
          <p:cNvPr id="11" name="">
            <a:extLst xmlns:a="http://schemas.openxmlformats.org/drawingml/2006/main">
              <a:ext uri="{FF2B5EF4-FFF2-40B4-BE49-F238E27FC236}">
                <a16:creationId xmlns:a16="http://schemas.microsoft.com/office/drawing/2014/main" id="{10A69C83-08B9-4706-B4A6-7A768613E59E}"/>
              </a:ext>
            </a:extLst>
          </p:cNvPr>
          <p:cNvSpPr>
            <a:spLocks xmlns:a="http://schemas.openxmlformats.org/drawingml/2006/main" noGrp="1"/>
          </p:cNvSpPr>
          <p:nvPr/>
        </p:nvSpPr>
        <p:spPr>
          <a:xfrm xmlns:a="http://schemas.openxmlformats.org/drawingml/2006/main">
            <a:off x="7296150" y="4781550"/>
            <a:ext cx="101536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Portal（用户门户）新增集群选择器，后端 Schema（数据结构）与 Service（服务层）同步透传。</a:t>
            </a:r>
          </a:p>
        </p:txBody>
      </p:sp>
      <p:sp>
        <p:nvSpPr>
          <p:cNvPr id="12" name="step-rule-创建 AI 员工按集群过滤">
            <a:extLst xmlns:a="http://schemas.openxmlformats.org/drawingml/2006/main">
              <a:ext uri="{FF2B5EF4-FFF2-40B4-BE49-F238E27FC236}">
                <a16:creationId xmlns:a16="http://schemas.microsoft.com/office/drawing/2014/main" id="{D575654C-2DF6-4111-A235-84EC64880CA6}"/>
              </a:ext>
            </a:extLst>
          </p:cNvPr>
          <p:cNvSpPr>
            <a:spLocks xmlns:a="http://schemas.openxmlformats.org/drawingml/2006/main" noGrp="1"/>
          </p:cNvSpPr>
          <p:nvPr/>
        </p:nvSpPr>
        <p:spPr>
          <a:xfrm xmlns:a="http://schemas.openxmlformats.org/drawingml/2006/main">
            <a:off x="7296150" y="5314950"/>
            <a:ext cx="104775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13" name="">
            <a:extLst xmlns:a="http://schemas.openxmlformats.org/drawingml/2006/main">
              <a:ext uri="{FF2B5EF4-FFF2-40B4-BE49-F238E27FC236}">
                <a16:creationId xmlns:a16="http://schemas.microsoft.com/office/drawing/2014/main" id="{0E8895AD-78C8-4881-96BF-065F3057A0C0}"/>
              </a:ext>
            </a:extLst>
          </p:cNvPr>
          <p:cNvSpPr>
            <a:spLocks xmlns:a="http://schemas.openxmlformats.org/drawingml/2006/main" noGrp="1"/>
          </p:cNvSpPr>
          <p:nvPr/>
        </p:nvSpPr>
        <p:spPr>
          <a:xfrm xmlns:a="http://schemas.openxmlformats.org/drawingml/2006/main">
            <a:off x="7296150" y="5448300"/>
            <a:ext cx="101536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创建 AI 员工按集群过滤</a:t>
            </a:r>
          </a:p>
        </p:txBody>
      </p:sp>
      <p:sp>
        <p:nvSpPr>
          <p:cNvPr id="14" name="">
            <a:extLst xmlns:a="http://schemas.openxmlformats.org/drawingml/2006/main">
              <a:ext uri="{FF2B5EF4-FFF2-40B4-BE49-F238E27FC236}">
                <a16:creationId xmlns:a16="http://schemas.microsoft.com/office/drawing/2014/main" id="{F9561910-B48C-4B4D-823A-98B54832CB2B}"/>
              </a:ext>
            </a:extLst>
          </p:cNvPr>
          <p:cNvSpPr>
            <a:spLocks xmlns:a="http://schemas.openxmlformats.org/drawingml/2006/main" noGrp="1"/>
          </p:cNvSpPr>
          <p:nvPr/>
        </p:nvSpPr>
        <p:spPr>
          <a:xfrm xmlns:a="http://schemas.openxmlformats.org/drawingml/2006/main">
            <a:off x="7296150" y="5886450"/>
            <a:ext cx="101536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AddAgentDialog（添加员工弹窗）按 Workspace（工作区）绑定集群过滤候选实例。</a:t>
            </a:r>
          </a:p>
        </p:txBody>
      </p:sp>
      <p:sp>
        <p:nvSpPr>
          <p:cNvPr id="15" name="step-rule-CE/EE 共同解除单集群限制">
            <a:extLst xmlns:a="http://schemas.openxmlformats.org/drawingml/2006/main">
              <a:ext uri="{FF2B5EF4-FFF2-40B4-BE49-F238E27FC236}">
                <a16:creationId xmlns:a16="http://schemas.microsoft.com/office/drawing/2014/main" id="{3B79044B-DB16-4325-ACCA-0090A735BD47}"/>
              </a:ext>
            </a:extLst>
          </p:cNvPr>
          <p:cNvSpPr>
            <a:spLocks xmlns:a="http://schemas.openxmlformats.org/drawingml/2006/main" noGrp="1"/>
          </p:cNvSpPr>
          <p:nvPr/>
        </p:nvSpPr>
        <p:spPr>
          <a:xfrm xmlns:a="http://schemas.openxmlformats.org/drawingml/2006/main">
            <a:off x="7296150" y="6419850"/>
            <a:ext cx="1047750" cy="47625"/>
          </a:xfrm>
          <a:prstGeom xmlns:a="http://schemas.openxmlformats.org/drawingml/2006/main" prst="rect">
            <a:avLst/>
          </a:prstGeom>
          <a:solidFill xmlns:a="http://schemas.openxmlformats.org/drawingml/2006/main">
            <a:srgbClr val="52D1DC"/>
          </a:solidFill>
          <a:ln xmlns:a="http://schemas.openxmlformats.org/drawingml/2006/main" w="0">
            <a:solidFill>
              <a:srgbClr val="52D1DC"/>
            </a:solidFill>
            <a:prstDash val="solid"/>
          </a:ln>
        </p:spPr>
      </p:sp>
      <p:sp>
        <p:nvSpPr>
          <p:cNvPr id="16" name="">
            <a:extLst xmlns:a="http://schemas.openxmlformats.org/drawingml/2006/main">
              <a:ext uri="{FF2B5EF4-FFF2-40B4-BE49-F238E27FC236}">
                <a16:creationId xmlns:a16="http://schemas.microsoft.com/office/drawing/2014/main" id="{C28F6D74-3D67-4164-8243-28221041DF56}"/>
              </a:ext>
            </a:extLst>
          </p:cNvPr>
          <p:cNvSpPr>
            <a:spLocks xmlns:a="http://schemas.openxmlformats.org/drawingml/2006/main" noGrp="1"/>
          </p:cNvSpPr>
          <p:nvPr/>
        </p:nvSpPr>
        <p:spPr>
          <a:xfrm xmlns:a="http://schemas.openxmlformats.org/drawingml/2006/main">
            <a:off x="7296150" y="6553200"/>
            <a:ext cx="101536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CE/EE 共同解除单集群限制</a:t>
            </a:r>
          </a:p>
        </p:txBody>
      </p:sp>
      <p:sp>
        <p:nvSpPr>
          <p:cNvPr id="17" name="">
            <a:extLst xmlns:a="http://schemas.openxmlformats.org/drawingml/2006/main">
              <a:ext uri="{FF2B5EF4-FFF2-40B4-BE49-F238E27FC236}">
                <a16:creationId xmlns:a16="http://schemas.microsoft.com/office/drawing/2014/main" id="{C5D8866B-CEEB-4708-967E-892CEECE7FA2}"/>
              </a:ext>
            </a:extLst>
          </p:cNvPr>
          <p:cNvSpPr>
            <a:spLocks xmlns:a="http://schemas.openxmlformats.org/drawingml/2006/main" noGrp="1"/>
          </p:cNvSpPr>
          <p:nvPr/>
        </p:nvSpPr>
        <p:spPr>
          <a:xfrm xmlns:a="http://schemas.openxmlformats.org/drawingml/2006/main">
            <a:off x="7296150" y="7010400"/>
            <a:ext cx="101536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实例、事件、StorageClass（存储类）、K8s Client（集群客户端）都按 cluster_id（集群 ID）取数。</a:t>
            </a:r>
          </a:p>
        </p:txBody>
      </p:sp>
      <p:sp>
        <p:nvSpPr>
          <p:cNvPr id="18" name="footer-rule">
            <a:extLst xmlns:a="http://schemas.openxmlformats.org/drawingml/2006/main">
              <a:ext uri="{FF2B5EF4-FFF2-40B4-BE49-F238E27FC236}">
                <a16:creationId xmlns:a16="http://schemas.microsoft.com/office/drawing/2014/main" id="{6C0B84B4-2392-44CB-8E96-E5D2319A624F}"/>
              </a:ext>
            </a:extLst>
          </p:cNvPr>
          <p:cNvSpPr>
            <a:spLocks xmlns:a="http://schemas.openxmlformats.org/drawingml/2006/main" noGrp="1"/>
          </p:cNvSpPr>
          <p:nvPr/>
        </p:nvSpPr>
        <p:spPr>
          <a:xfrm xmlns:a="http://schemas.openxmlformats.org/drawingml/2006/main">
            <a:off x="838200" y="9601200"/>
            <a:ext cx="1263015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19" name="footer-label">
            <a:extLst xmlns:a="http://schemas.openxmlformats.org/drawingml/2006/main">
              <a:ext uri="{FF2B5EF4-FFF2-40B4-BE49-F238E27FC236}">
                <a16:creationId xmlns:a16="http://schemas.microsoft.com/office/drawing/2014/main" id="{9318BF72-4FFC-477E-A025-308978BE0305}"/>
              </a:ext>
            </a:extLst>
          </p:cNvPr>
          <p:cNvSpPr>
            <a:spLocks xmlns:a="http://schemas.openxmlformats.org/drawingml/2006/main" noGrp="1"/>
          </p:cNvSpPr>
          <p:nvPr/>
        </p:nvSpPr>
        <p:spPr>
          <a:xfrm xmlns:a="http://schemas.openxmlformats.org/drawingml/2006/main">
            <a:off x="13620750" y="9544050"/>
            <a:ext cx="382905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代表提交：feat(cluster): 移除单集群限制，CE/EE 均支持多集群</a:t>
            </a:r>
          </a:p>
        </p:txBody>
      </p:sp>
    </p:spTree>
    <p:extLst>
      <p:ext uri="{BB962C8B-B14F-4D97-AF65-F5344CB8AC3E}">
        <p14:creationId xmlns:p14="http://schemas.microsoft.com/office/powerpoint/2010/main" val="109329377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62DB0DE-82E3-44EE-9F57-7310C9EE044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E1720"/>
          </a:solidFill>
          <a:ln xmlns:a="http://schemas.openxmlformats.org/drawingml/2006/main" w="0">
            <a:solidFill>
              <a:srgbClr val="0E1720"/>
            </a:solidFill>
            <a:prstDash val="solid"/>
          </a:ln>
        </p:spPr>
      </p:sp>
      <p:sp>
        <p:nvSpPr>
          <p:cNvPr id="2" name="kicker-rule">
            <a:extLst xmlns:a="http://schemas.openxmlformats.org/drawingml/2006/main">
              <a:ext uri="{FF2B5EF4-FFF2-40B4-BE49-F238E27FC236}">
                <a16:creationId xmlns:a16="http://schemas.microsoft.com/office/drawing/2014/main" id="{E719C087-6020-49F5-8A2D-6AC5BE8E2A49}"/>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3" name="kicker">
            <a:extLst xmlns:a="http://schemas.openxmlformats.org/drawingml/2006/main">
              <a:ext uri="{FF2B5EF4-FFF2-40B4-BE49-F238E27FC236}">
                <a16:creationId xmlns:a16="http://schemas.microsoft.com/office/drawing/2014/main" id="{8634A74C-D5BD-42A0-ABEA-4C86EAF1D97B}"/>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A7BAC8"/>
                </a:solidFill>
                <a:latin typeface="PingFang SC"/>
                <a:ea typeface="PingFang SC"/>
                <a:cs typeface="PingFang SC"/>
              </a:defRPr>
            </a:pPr>
            <a:r>
              <a:rPr sz="1350" b="1">
                <a:solidFill>
                  <a:srgbClr val="A7BAC8"/>
                </a:solidFill>
                <a:latin typeface="PingFang SC"/>
                <a:ea typeface="PingFang SC"/>
                <a:cs typeface="PingFang SC"/>
              </a:rPr>
              <a:t>02 拓扑协作</a:t>
            </a:r>
          </a:p>
        </p:txBody>
      </p:sp>
      <p:sp>
        <p:nvSpPr>
          <p:cNvPr id="4" name="slide-title">
            <a:extLst xmlns:a="http://schemas.openxmlformats.org/drawingml/2006/main">
              <a:ext uri="{FF2B5EF4-FFF2-40B4-BE49-F238E27FC236}">
                <a16:creationId xmlns:a16="http://schemas.microsoft.com/office/drawing/2014/main" id="{AB24C145-DCFC-49D3-9E6B-7EF55E5500D4}"/>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FFFFFF"/>
                </a:solidFill>
                <a:latin typeface="PingFang SC"/>
                <a:ea typeface="PingFang SC"/>
                <a:cs typeface="PingFang SC"/>
              </a:defRPr>
            </a:pPr>
            <a:r>
              <a:rPr sz="3900" b="1">
                <a:solidFill>
                  <a:srgbClr val="FFFFFF"/>
                </a:solidFill>
                <a:latin typeface="PingFang SC"/>
                <a:ea typeface="PingFang SC"/>
                <a:cs typeface="PingFang SC"/>
              </a:rPr>
              <a:t>拓扑协作：黑盒群聊变成可控路由</a:t>
            </a:r>
          </a:p>
        </p:txBody>
      </p:sp>
      <p:sp>
        <p:nvSpPr>
          <p:cNvPr id="5" name="slide-subtitle">
            <a:extLst xmlns:a="http://schemas.openxmlformats.org/drawingml/2006/main">
              <a:ext uri="{FF2B5EF4-FFF2-40B4-BE49-F238E27FC236}">
                <a16:creationId xmlns:a16="http://schemas.microsoft.com/office/drawing/2014/main" id="{FD922FE9-B6BE-42D2-BD2C-D1B4DA980771}"/>
              </a:ext>
            </a:extLst>
          </p:cNvPr>
          <p:cNvSpPr>
            <a:spLocks xmlns:a="http://schemas.openxmlformats.org/drawingml/2006/main" noGrp="1"/>
          </p:cNvSpPr>
          <p:nvPr/>
        </p:nvSpPr>
        <p:spPr>
          <a:xfrm xmlns:a="http://schemas.openxmlformats.org/drawingml/2006/main">
            <a:off x="838200" y="1619250"/>
            <a:ext cx="8496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C7D8E4"/>
                </a:solidFill>
                <a:latin typeface="PingFang SC"/>
                <a:ea typeface="PingFang SC"/>
                <a:cs typeface="PingFang SC"/>
              </a:defRPr>
            </a:pPr>
            <a:r>
              <a:rPr sz="1800">
                <a:solidFill>
                  <a:srgbClr val="C7D8E4"/>
                </a:solidFill>
                <a:latin typeface="PingFang SC"/>
                <a:ea typeface="PingFang SC"/>
                <a:cs typeface="PingFang SC"/>
              </a:rPr>
              <a:t>Agent（AI 员工）消息是否能到达，不再只看谁被 @，还要看办公室拓扑是否连通。</a:t>
            </a:r>
          </a:p>
        </p:txBody>
      </p:sp>
      <p:sp>
        <p:nvSpPr>
          <p:cNvPr id="6" name="">
            <a:extLst xmlns:a="http://schemas.openxmlformats.org/drawingml/2006/main">
              <a:ext uri="{FF2B5EF4-FFF2-40B4-BE49-F238E27FC236}">
                <a16:creationId xmlns:a16="http://schemas.microsoft.com/office/drawing/2014/main" id="{0D0052C1-6858-4162-9AB7-7613E6BE7308}"/>
              </a:ext>
            </a:extLst>
          </p:cNvPr>
          <p:cNvSpPr>
            <a:spLocks xmlns:a="http://schemas.openxmlformats.org/drawingml/2006/main" noGrp="1"/>
          </p:cNvSpPr>
          <p:nvPr/>
        </p:nvSpPr>
        <p:spPr>
          <a:xfrm xmlns:a="http://schemas.openxmlformats.org/drawingml/2006/main">
            <a:off x="838200" y="4972050"/>
            <a:ext cx="7943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9FB4C2"/>
                </a:solidFill>
                <a:latin typeface="PingFang SC"/>
                <a:ea typeface="PingFang SC"/>
                <a:cs typeface="PingFang SC"/>
              </a:defRPr>
            </a:pPr>
            <a:r>
              <a:rPr sz="1500" b="1">
                <a:solidFill>
                  <a:srgbClr val="9FB4C2"/>
                </a:solidFill>
                <a:latin typeface="PingFang SC"/>
                <a:ea typeface="PingFang SC"/>
                <a:cs typeface="PingFang SC"/>
              </a:rPr>
              <a:t>之前</a:t>
            </a:r>
          </a:p>
        </p:txBody>
      </p:sp>
      <p:sp>
        <p:nvSpPr>
          <p:cNvPr id="7" name="">
            <a:extLst xmlns:a="http://schemas.openxmlformats.org/drawingml/2006/main">
              <a:ext uri="{FF2B5EF4-FFF2-40B4-BE49-F238E27FC236}">
                <a16:creationId xmlns:a16="http://schemas.microsoft.com/office/drawing/2014/main" id="{7D26494E-6D8C-4B1E-B92D-D14B3C089678}"/>
              </a:ext>
            </a:extLst>
          </p:cNvPr>
          <p:cNvSpPr>
            <a:spLocks xmlns:a="http://schemas.openxmlformats.org/drawingml/2006/main" noGrp="1"/>
          </p:cNvSpPr>
          <p:nvPr/>
        </p:nvSpPr>
        <p:spPr>
          <a:xfrm xmlns:a="http://schemas.openxmlformats.org/drawingml/2006/main">
            <a:off x="838200" y="5372100"/>
            <a:ext cx="79438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600" b="1">
                <a:solidFill>
                  <a:srgbClr val="FFFFFF"/>
                </a:solidFill>
                <a:latin typeface="PingFang SC"/>
                <a:ea typeface="PingFang SC"/>
                <a:cs typeface="PingFang SC"/>
              </a:defRPr>
            </a:pPr>
            <a:r>
              <a:rPr sz="3600" b="1">
                <a:solidFill>
                  <a:srgbClr val="FFFFFF"/>
                </a:solidFill>
                <a:latin typeface="PingFang SC"/>
                <a:ea typeface="PingFang SC"/>
                <a:cs typeface="PingFang SC"/>
              </a:rPr>
              <a:t>广播退化容易让协作变成“全员可见”。</a:t>
            </a:r>
          </a:p>
        </p:txBody>
      </p:sp>
      <p:sp>
        <p:nvSpPr>
          <p:cNvPr id="8" name="">
            <a:extLst xmlns:a="http://schemas.openxmlformats.org/drawingml/2006/main">
              <a:ext uri="{FF2B5EF4-FFF2-40B4-BE49-F238E27FC236}">
                <a16:creationId xmlns:a16="http://schemas.microsoft.com/office/drawing/2014/main" id="{3A8E0155-ABFD-4344-B70D-814636CF0AE8}"/>
              </a:ext>
            </a:extLst>
          </p:cNvPr>
          <p:cNvSpPr>
            <a:spLocks xmlns:a="http://schemas.openxmlformats.org/drawingml/2006/main" noGrp="1"/>
          </p:cNvSpPr>
          <p:nvPr/>
        </p:nvSpPr>
        <p:spPr>
          <a:xfrm xmlns:a="http://schemas.openxmlformats.org/drawingml/2006/main">
            <a:off x="838200" y="6076950"/>
            <a:ext cx="7943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C7D8E4"/>
                </a:solidFill>
                <a:latin typeface="PingFang SC"/>
                <a:ea typeface="PingFang SC"/>
                <a:cs typeface="PingFang SC"/>
              </a:defRPr>
            </a:pPr>
            <a:r>
              <a:rPr sz="1800">
                <a:solidFill>
                  <a:srgbClr val="C7D8E4"/>
                </a:solidFill>
                <a:latin typeface="PingFang SC"/>
                <a:ea typeface="PingFang SC"/>
                <a:cs typeface="PingFang SC"/>
              </a:rPr>
              <a:t>Agent（AI 员工）没有明确空间边界，群聊像黑盒，调试也难。</a:t>
            </a:r>
          </a:p>
        </p:txBody>
      </p:sp>
      <p:sp>
        <p:nvSpPr>
          <p:cNvPr id="9" name="">
            <a:extLst xmlns:a="http://schemas.openxmlformats.org/drawingml/2006/main">
              <a:ext uri="{FF2B5EF4-FFF2-40B4-BE49-F238E27FC236}">
                <a16:creationId xmlns:a16="http://schemas.microsoft.com/office/drawing/2014/main" id="{27483E1D-16C7-4FBD-9E6C-2E1EAA39B55D}"/>
              </a:ext>
            </a:extLst>
          </p:cNvPr>
          <p:cNvSpPr>
            <a:spLocks xmlns:a="http://schemas.openxmlformats.org/drawingml/2006/main" noGrp="1"/>
          </p:cNvSpPr>
          <p:nvPr/>
        </p:nvSpPr>
        <p:spPr>
          <a:xfrm xmlns:a="http://schemas.openxmlformats.org/drawingml/2006/main">
            <a:off x="9525000" y="3943350"/>
            <a:ext cx="79438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8AE6B0"/>
                </a:solidFill>
                <a:latin typeface="PingFang SC"/>
                <a:ea typeface="PingFang SC"/>
                <a:cs typeface="PingFang SC"/>
              </a:defRPr>
            </a:pPr>
            <a:r>
              <a:rPr sz="1500" b="1">
                <a:solidFill>
                  <a:srgbClr val="8AE6B0"/>
                </a:solidFill>
                <a:latin typeface="PingFang SC"/>
                <a:ea typeface="PingFang SC"/>
                <a:cs typeface="PingFang SC"/>
              </a:rPr>
              <a:t>现在</a:t>
            </a:r>
          </a:p>
        </p:txBody>
      </p:sp>
      <p:sp>
        <p:nvSpPr>
          <p:cNvPr id="10" name="dark-step-rule-check_topology_access（拓扑可达性校验）">
            <a:extLst xmlns:a="http://schemas.openxmlformats.org/drawingml/2006/main">
              <a:ext uri="{FF2B5EF4-FFF2-40B4-BE49-F238E27FC236}">
                <a16:creationId xmlns:a16="http://schemas.microsoft.com/office/drawing/2014/main" id="{35C46FFE-57B7-4B6B-88C8-F15C9BC36986}"/>
              </a:ext>
            </a:extLst>
          </p:cNvPr>
          <p:cNvSpPr>
            <a:spLocks xmlns:a="http://schemas.openxmlformats.org/drawingml/2006/main" noGrp="1"/>
          </p:cNvSpPr>
          <p:nvPr/>
        </p:nvSpPr>
        <p:spPr>
          <a:xfrm xmlns:a="http://schemas.openxmlformats.org/drawingml/2006/main">
            <a:off x="9525000" y="4381500"/>
            <a:ext cx="104775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11" name="">
            <a:extLst xmlns:a="http://schemas.openxmlformats.org/drawingml/2006/main">
              <a:ext uri="{FF2B5EF4-FFF2-40B4-BE49-F238E27FC236}">
                <a16:creationId xmlns:a16="http://schemas.microsoft.com/office/drawing/2014/main" id="{3393003F-3C6E-4376-81E6-6BADD7005519}"/>
              </a:ext>
            </a:extLst>
          </p:cNvPr>
          <p:cNvSpPr>
            <a:spLocks xmlns:a="http://schemas.openxmlformats.org/drawingml/2006/main" noGrp="1"/>
          </p:cNvSpPr>
          <p:nvPr/>
        </p:nvSpPr>
        <p:spPr>
          <a:xfrm xmlns:a="http://schemas.openxmlformats.org/drawingml/2006/main">
            <a:off x="9525000" y="4533900"/>
            <a:ext cx="79438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FFFFFF"/>
                </a:solidFill>
                <a:latin typeface="PingFang SC"/>
                <a:ea typeface="PingFang SC"/>
                <a:cs typeface="PingFang SC"/>
              </a:defRPr>
            </a:pPr>
            <a:r>
              <a:rPr sz="2325" b="1">
                <a:solidFill>
                  <a:srgbClr val="FFFFFF"/>
                </a:solidFill>
                <a:latin typeface="PingFang SC"/>
                <a:ea typeface="PingFang SC"/>
                <a:cs typeface="PingFang SC"/>
              </a:rPr>
              <a:t>check_topology_access（拓扑可达性校验）</a:t>
            </a:r>
          </a:p>
        </p:txBody>
      </p:sp>
      <p:sp>
        <p:nvSpPr>
          <p:cNvPr id="12" name="">
            <a:extLst xmlns:a="http://schemas.openxmlformats.org/drawingml/2006/main">
              <a:ext uri="{FF2B5EF4-FFF2-40B4-BE49-F238E27FC236}">
                <a16:creationId xmlns:a16="http://schemas.microsoft.com/office/drawing/2014/main" id="{DEFDFA20-637A-44D8-B5D9-A5B43341C712}"/>
              </a:ext>
            </a:extLst>
          </p:cNvPr>
          <p:cNvSpPr>
            <a:spLocks xmlns:a="http://schemas.openxmlformats.org/drawingml/2006/main" noGrp="1"/>
          </p:cNvSpPr>
          <p:nvPr/>
        </p:nvSpPr>
        <p:spPr>
          <a:xfrm xmlns:a="http://schemas.openxmlformats.org/drawingml/2006/main">
            <a:off x="9525000" y="4972050"/>
            <a:ext cx="79438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C7D8E4"/>
                </a:solidFill>
                <a:latin typeface="PingFang SC"/>
                <a:ea typeface="PingFang SC"/>
                <a:cs typeface="PingFang SC"/>
              </a:defRPr>
            </a:pPr>
            <a:r>
              <a:rPr sz="1575">
                <a:solidFill>
                  <a:srgbClr val="C7D8E4"/>
                </a:solidFill>
                <a:latin typeface="PingFang SC"/>
                <a:ea typeface="PingFang SC"/>
                <a:cs typeface="PingFang SC"/>
              </a:rPr>
              <a:t>AI→AI 单播先判断走廊连通关系，不可达就阻断并给出 reason（原因）。</a:t>
            </a:r>
          </a:p>
        </p:txBody>
      </p:sp>
      <p:sp>
        <p:nvSpPr>
          <p:cNvPr id="13" name="dark-step-rule-check_blackboard_access（黑板访问校验）">
            <a:extLst xmlns:a="http://schemas.openxmlformats.org/drawingml/2006/main">
              <a:ext uri="{FF2B5EF4-FFF2-40B4-BE49-F238E27FC236}">
                <a16:creationId xmlns:a16="http://schemas.microsoft.com/office/drawing/2014/main" id="{0729ECFA-D79D-4DEF-B00D-FC8247DB48E7}"/>
              </a:ext>
            </a:extLst>
          </p:cNvPr>
          <p:cNvSpPr>
            <a:spLocks xmlns:a="http://schemas.openxmlformats.org/drawingml/2006/main" noGrp="1"/>
          </p:cNvSpPr>
          <p:nvPr/>
        </p:nvSpPr>
        <p:spPr>
          <a:xfrm xmlns:a="http://schemas.openxmlformats.org/drawingml/2006/main">
            <a:off x="9525000" y="5467350"/>
            <a:ext cx="1047750" cy="47625"/>
          </a:xfrm>
          <a:prstGeom xmlns:a="http://schemas.openxmlformats.org/drawingml/2006/main" prst="rect">
            <a:avLst/>
          </a:prstGeom>
          <a:solidFill xmlns:a="http://schemas.openxmlformats.org/drawingml/2006/main">
            <a:srgbClr val="52D1DC"/>
          </a:solidFill>
          <a:ln xmlns:a="http://schemas.openxmlformats.org/drawingml/2006/main" w="0">
            <a:solidFill>
              <a:srgbClr val="52D1DC"/>
            </a:solidFill>
            <a:prstDash val="solid"/>
          </a:ln>
        </p:spPr>
      </p:sp>
      <p:sp>
        <p:nvSpPr>
          <p:cNvPr id="14" name="">
            <a:extLst xmlns:a="http://schemas.openxmlformats.org/drawingml/2006/main">
              <a:ext uri="{FF2B5EF4-FFF2-40B4-BE49-F238E27FC236}">
                <a16:creationId xmlns:a16="http://schemas.microsoft.com/office/drawing/2014/main" id="{5C00B593-3F8C-45D5-92C4-ACA791A32CF5}"/>
              </a:ext>
            </a:extLst>
          </p:cNvPr>
          <p:cNvSpPr>
            <a:spLocks xmlns:a="http://schemas.openxmlformats.org/drawingml/2006/main" noGrp="1"/>
          </p:cNvSpPr>
          <p:nvPr/>
        </p:nvSpPr>
        <p:spPr>
          <a:xfrm xmlns:a="http://schemas.openxmlformats.org/drawingml/2006/main">
            <a:off x="9525000" y="5600700"/>
            <a:ext cx="79438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FFFFFF"/>
                </a:solidFill>
                <a:latin typeface="PingFang SC"/>
                <a:ea typeface="PingFang SC"/>
                <a:cs typeface="PingFang SC"/>
              </a:defRPr>
            </a:pPr>
            <a:r>
              <a:rPr sz="2325" b="1">
                <a:solidFill>
                  <a:srgbClr val="FFFFFF"/>
                </a:solidFill>
                <a:latin typeface="PingFang SC"/>
                <a:ea typeface="PingFang SC"/>
                <a:cs typeface="PingFang SC"/>
              </a:rPr>
              <a:t>check_blackboard_access（黑板访问校验）</a:t>
            </a:r>
          </a:p>
        </p:txBody>
      </p:sp>
      <p:sp>
        <p:nvSpPr>
          <p:cNvPr id="15" name="">
            <a:extLst xmlns:a="http://schemas.openxmlformats.org/drawingml/2006/main">
              <a:ext uri="{FF2B5EF4-FFF2-40B4-BE49-F238E27FC236}">
                <a16:creationId xmlns:a16="http://schemas.microsoft.com/office/drawing/2014/main" id="{520B5E55-76D7-410A-8AA3-FFFCA8964B04}"/>
              </a:ext>
            </a:extLst>
          </p:cNvPr>
          <p:cNvSpPr>
            <a:spLocks xmlns:a="http://schemas.openxmlformats.org/drawingml/2006/main" noGrp="1"/>
          </p:cNvSpPr>
          <p:nvPr/>
        </p:nvSpPr>
        <p:spPr>
          <a:xfrm xmlns:a="http://schemas.openxmlformats.org/drawingml/2006/main">
            <a:off x="9525000" y="6038850"/>
            <a:ext cx="79438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C7D8E4"/>
                </a:solidFill>
                <a:latin typeface="PingFang SC"/>
                <a:ea typeface="PingFang SC"/>
                <a:cs typeface="PingFang SC"/>
              </a:defRPr>
            </a:pPr>
            <a:r>
              <a:rPr sz="1575">
                <a:solidFill>
                  <a:srgbClr val="C7D8E4"/>
                </a:solidFill>
                <a:latin typeface="PingFang SC"/>
                <a:ea typeface="PingFang SC"/>
                <a:cs typeface="PingFang SC"/>
              </a:rPr>
              <a:t>黑板 API（接口）也按拓扑拦截，错误码接入 i18n（国际化）文案。</a:t>
            </a:r>
          </a:p>
        </p:txBody>
      </p:sp>
      <p:sp>
        <p:nvSpPr>
          <p:cNvPr id="16" name="dark-step-rule-reachable member list（可达成员列表）">
            <a:extLst xmlns:a="http://schemas.openxmlformats.org/drawingml/2006/main">
              <a:ext uri="{FF2B5EF4-FFF2-40B4-BE49-F238E27FC236}">
                <a16:creationId xmlns:a16="http://schemas.microsoft.com/office/drawing/2014/main" id="{325FCD88-06D9-40EE-84FB-A65CCCCDD41F}"/>
              </a:ext>
            </a:extLst>
          </p:cNvPr>
          <p:cNvSpPr>
            <a:spLocks xmlns:a="http://schemas.openxmlformats.org/drawingml/2006/main" noGrp="1"/>
          </p:cNvSpPr>
          <p:nvPr/>
        </p:nvSpPr>
        <p:spPr>
          <a:xfrm xmlns:a="http://schemas.openxmlformats.org/drawingml/2006/main">
            <a:off x="9525000" y="6534150"/>
            <a:ext cx="1047750" cy="47625"/>
          </a:xfrm>
          <a:prstGeom xmlns:a="http://schemas.openxmlformats.org/drawingml/2006/main" prst="rect">
            <a:avLst/>
          </a:prstGeom>
          <a:solidFill xmlns:a="http://schemas.openxmlformats.org/drawingml/2006/main">
            <a:srgbClr val="F6C85F"/>
          </a:solidFill>
          <a:ln xmlns:a="http://schemas.openxmlformats.org/drawingml/2006/main" w="0">
            <a:solidFill>
              <a:srgbClr val="F6C85F"/>
            </a:solidFill>
            <a:prstDash val="solid"/>
          </a:ln>
        </p:spPr>
      </p:sp>
      <p:sp>
        <p:nvSpPr>
          <p:cNvPr id="17" name="">
            <a:extLst xmlns:a="http://schemas.openxmlformats.org/drawingml/2006/main">
              <a:ext uri="{FF2B5EF4-FFF2-40B4-BE49-F238E27FC236}">
                <a16:creationId xmlns:a16="http://schemas.microsoft.com/office/drawing/2014/main" id="{780A3FFD-E0B7-47FA-9571-E452FFA2E0B7}"/>
              </a:ext>
            </a:extLst>
          </p:cNvPr>
          <p:cNvSpPr>
            <a:spLocks xmlns:a="http://schemas.openxmlformats.org/drawingml/2006/main" noGrp="1"/>
          </p:cNvSpPr>
          <p:nvPr/>
        </p:nvSpPr>
        <p:spPr>
          <a:xfrm xmlns:a="http://schemas.openxmlformats.org/drawingml/2006/main">
            <a:off x="9525000" y="6667500"/>
            <a:ext cx="79438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FFFFFF"/>
                </a:solidFill>
                <a:latin typeface="PingFang SC"/>
                <a:ea typeface="PingFang SC"/>
                <a:cs typeface="PingFang SC"/>
              </a:defRPr>
            </a:pPr>
            <a:r>
              <a:rPr sz="2325" b="1">
                <a:solidFill>
                  <a:srgbClr val="FFFFFF"/>
                </a:solidFill>
                <a:latin typeface="PingFang SC"/>
                <a:ea typeface="PingFang SC"/>
                <a:cs typeface="PingFang SC"/>
              </a:rPr>
              <a:t>reachable member list（可达成员列表）</a:t>
            </a:r>
          </a:p>
        </p:txBody>
      </p:sp>
      <p:sp>
        <p:nvSpPr>
          <p:cNvPr id="18" name="">
            <a:extLst xmlns:a="http://schemas.openxmlformats.org/drawingml/2006/main">
              <a:ext uri="{FF2B5EF4-FFF2-40B4-BE49-F238E27FC236}">
                <a16:creationId xmlns:a16="http://schemas.microsoft.com/office/drawing/2014/main" id="{4BF1CA2F-82D4-4EAD-AFD4-A7607DF209AB}"/>
              </a:ext>
            </a:extLst>
          </p:cNvPr>
          <p:cNvSpPr>
            <a:spLocks xmlns:a="http://schemas.openxmlformats.org/drawingml/2006/main" noGrp="1"/>
          </p:cNvSpPr>
          <p:nvPr/>
        </p:nvSpPr>
        <p:spPr>
          <a:xfrm xmlns:a="http://schemas.openxmlformats.org/drawingml/2006/main">
            <a:off x="9525000" y="7124700"/>
            <a:ext cx="79438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C7D8E4"/>
                </a:solidFill>
                <a:latin typeface="PingFang SC"/>
                <a:ea typeface="PingFang SC"/>
                <a:cs typeface="PingFang SC"/>
              </a:defRPr>
            </a:pPr>
            <a:r>
              <a:rPr sz="1575">
                <a:solidFill>
                  <a:srgbClr val="C7D8E4"/>
                </a:solidFill>
                <a:latin typeface="PingFang SC"/>
                <a:ea typeface="PingFang SC"/>
                <a:cs typeface="PingFang SC"/>
              </a:rPr>
              <a:t>系统提示词注入当前可达成员，减少 Agent（AI 员工）误找不可达对象。</a:t>
            </a:r>
          </a:p>
        </p:txBody>
      </p:sp>
      <p:sp>
        <p:nvSpPr>
          <p:cNvPr id="19" name="footer-rule">
            <a:extLst xmlns:a="http://schemas.openxmlformats.org/drawingml/2006/main">
              <a:ext uri="{FF2B5EF4-FFF2-40B4-BE49-F238E27FC236}">
                <a16:creationId xmlns:a16="http://schemas.microsoft.com/office/drawing/2014/main" id="{83538928-5617-4116-8B3E-5F9EAE5A27EE}"/>
              </a:ext>
            </a:extLst>
          </p:cNvPr>
          <p:cNvSpPr>
            <a:spLocks xmlns:a="http://schemas.openxmlformats.org/drawingml/2006/main" noGrp="1"/>
          </p:cNvSpPr>
          <p:nvPr/>
        </p:nvSpPr>
        <p:spPr>
          <a:xfrm xmlns:a="http://schemas.openxmlformats.org/drawingml/2006/main">
            <a:off x="838200" y="9544050"/>
            <a:ext cx="1022985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20" name="footer-label">
            <a:extLst xmlns:a="http://schemas.openxmlformats.org/drawingml/2006/main">
              <a:ext uri="{FF2B5EF4-FFF2-40B4-BE49-F238E27FC236}">
                <a16:creationId xmlns:a16="http://schemas.microsoft.com/office/drawing/2014/main" id="{1936F23C-509E-42FD-A3D4-A6C4D9705F62}"/>
              </a:ext>
            </a:extLst>
          </p:cNvPr>
          <p:cNvSpPr>
            <a:spLocks xmlns:a="http://schemas.openxmlformats.org/drawingml/2006/main" noGrp="1"/>
          </p:cNvSpPr>
          <p:nvPr/>
        </p:nvSpPr>
        <p:spPr>
          <a:xfrm xmlns:a="http://schemas.openxmlformats.org/drawingml/2006/main">
            <a:off x="11220450" y="9410700"/>
            <a:ext cx="62293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代表提交：feat: topology-based multi-room group chat to eliminate agent communication black box</a:t>
            </a:r>
          </a:p>
        </p:txBody>
      </p:sp>
    </p:spTree>
    <p:extLst>
      <p:ext uri="{BB962C8B-B14F-4D97-AF65-F5344CB8AC3E}">
        <p14:creationId xmlns:p14="http://schemas.microsoft.com/office/powerpoint/2010/main" val="10299340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CABD196A-EF26-48CE-B148-E28857726DD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7F9F6"/>
          </a:solidFill>
          <a:ln xmlns:a="http://schemas.openxmlformats.org/drawingml/2006/main" w="0">
            <a:solidFill>
              <a:srgbClr val="F7F9F6"/>
            </a:solidFill>
            <a:prstDash val="solid"/>
          </a:ln>
        </p:spPr>
      </p:sp>
      <p:sp>
        <p:nvSpPr>
          <p:cNvPr id="2" name="kicker-rule">
            <a:extLst xmlns:a="http://schemas.openxmlformats.org/drawingml/2006/main">
              <a:ext uri="{FF2B5EF4-FFF2-40B4-BE49-F238E27FC236}">
                <a16:creationId xmlns:a16="http://schemas.microsoft.com/office/drawing/2014/main" id="{5330F6A6-ED2C-4ECF-940B-FA7A1E6D2765}"/>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3" name="kicker">
            <a:extLst xmlns:a="http://schemas.openxmlformats.org/drawingml/2006/main">
              <a:ext uri="{FF2B5EF4-FFF2-40B4-BE49-F238E27FC236}">
                <a16:creationId xmlns:a16="http://schemas.microsoft.com/office/drawing/2014/main" id="{4BFB3DC0-733E-4D7D-ABF5-7DE8F377E03F}"/>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5B6875"/>
                </a:solidFill>
                <a:latin typeface="PingFang SC"/>
                <a:ea typeface="PingFang SC"/>
                <a:cs typeface="PingFang SC"/>
              </a:defRPr>
            </a:pPr>
            <a:r>
              <a:rPr sz="1350" b="1">
                <a:solidFill>
                  <a:srgbClr val="5B6875"/>
                </a:solidFill>
                <a:latin typeface="PingFang SC"/>
                <a:ea typeface="PingFang SC"/>
                <a:cs typeface="PingFang SC"/>
              </a:rPr>
              <a:t>03 模板部署</a:t>
            </a:r>
          </a:p>
        </p:txBody>
      </p:sp>
      <p:sp>
        <p:nvSpPr>
          <p:cNvPr id="4" name="slide-title">
            <a:extLst xmlns:a="http://schemas.openxmlformats.org/drawingml/2006/main">
              <a:ext uri="{FF2B5EF4-FFF2-40B4-BE49-F238E27FC236}">
                <a16:creationId xmlns:a16="http://schemas.microsoft.com/office/drawing/2014/main" id="{A89495A5-880C-4941-9941-DFAB73414370}"/>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16212D"/>
                </a:solidFill>
                <a:latin typeface="PingFang SC"/>
                <a:ea typeface="PingFang SC"/>
                <a:cs typeface="PingFang SC"/>
              </a:defRPr>
            </a:pPr>
            <a:r>
              <a:rPr sz="3900" b="1">
                <a:solidFill>
                  <a:srgbClr val="16212D"/>
                </a:solidFill>
                <a:latin typeface="PingFang SC"/>
                <a:ea typeface="PingFang SC"/>
                <a:cs typeface="PingFang SC"/>
              </a:rPr>
              <a:t>模板一键部署进入可运营阶段</a:t>
            </a:r>
          </a:p>
        </p:txBody>
      </p:sp>
      <p:sp>
        <p:nvSpPr>
          <p:cNvPr id="5" name="slide-subtitle">
            <a:extLst xmlns:a="http://schemas.openxmlformats.org/drawingml/2006/main">
              <a:ext uri="{FF2B5EF4-FFF2-40B4-BE49-F238E27FC236}">
                <a16:creationId xmlns:a16="http://schemas.microsoft.com/office/drawing/2014/main" id="{33695E78-16D1-446D-9A59-B9D70C0F52D7}"/>
              </a:ext>
            </a:extLst>
          </p:cNvPr>
          <p:cNvSpPr>
            <a:spLocks xmlns:a="http://schemas.openxmlformats.org/drawingml/2006/main" noGrp="1"/>
          </p:cNvSpPr>
          <p:nvPr/>
        </p:nvSpPr>
        <p:spPr>
          <a:xfrm xmlns:a="http://schemas.openxmlformats.org/drawingml/2006/main">
            <a:off x="838200" y="1619250"/>
            <a:ext cx="7353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5B6875"/>
                </a:solidFill>
                <a:latin typeface="PingFang SC"/>
                <a:ea typeface="PingFang SC"/>
                <a:cs typeface="PingFang SC"/>
              </a:defRPr>
            </a:pPr>
            <a:r>
              <a:rPr sz="1800">
                <a:solidFill>
                  <a:srgbClr val="5B6875"/>
                </a:solidFill>
                <a:latin typeface="PingFang SC"/>
                <a:ea typeface="PingFang SC"/>
                <a:cs typeface="PingFang SC"/>
              </a:rPr>
              <a:t>从“保存一个办公室快照”，进化到“可以更新、治理、复用的部署资产”。</a:t>
            </a:r>
          </a:p>
        </p:txBody>
      </p:sp>
      <p:sp>
        <p:nvSpPr>
          <p:cNvPr id="6" name="step-rule-保存">
            <a:extLst xmlns:a="http://schemas.openxmlformats.org/drawingml/2006/main">
              <a:ext uri="{FF2B5EF4-FFF2-40B4-BE49-F238E27FC236}">
                <a16:creationId xmlns:a16="http://schemas.microsoft.com/office/drawing/2014/main" id="{5833882F-5BAB-4C9D-A60C-D3EF8D9D58BE}"/>
              </a:ext>
            </a:extLst>
          </p:cNvPr>
          <p:cNvSpPr>
            <a:spLocks xmlns:a="http://schemas.openxmlformats.org/drawingml/2006/main" noGrp="1"/>
          </p:cNvSpPr>
          <p:nvPr/>
        </p:nvSpPr>
        <p:spPr>
          <a:xfrm xmlns:a="http://schemas.openxmlformats.org/drawingml/2006/main">
            <a:off x="838200" y="2209800"/>
            <a:ext cx="104775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7" name="">
            <a:extLst xmlns:a="http://schemas.openxmlformats.org/drawingml/2006/main">
              <a:ext uri="{FF2B5EF4-FFF2-40B4-BE49-F238E27FC236}">
                <a16:creationId xmlns:a16="http://schemas.microsoft.com/office/drawing/2014/main" id="{DC23BBB4-EF2D-466D-B96C-E0079A2C2806}"/>
              </a:ext>
            </a:extLst>
          </p:cNvPr>
          <p:cNvSpPr>
            <a:spLocks xmlns:a="http://schemas.openxmlformats.org/drawingml/2006/main" noGrp="1"/>
          </p:cNvSpPr>
          <p:nvPr/>
        </p:nvSpPr>
        <p:spPr>
          <a:xfrm xmlns:a="http://schemas.openxmlformats.org/drawingml/2006/main">
            <a:off x="83820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保存</a:t>
            </a:r>
          </a:p>
        </p:txBody>
      </p:sp>
      <p:sp>
        <p:nvSpPr>
          <p:cNvPr id="8" name="">
            <a:extLst xmlns:a="http://schemas.openxmlformats.org/drawingml/2006/main">
              <a:ext uri="{FF2B5EF4-FFF2-40B4-BE49-F238E27FC236}">
                <a16:creationId xmlns:a16="http://schemas.microsoft.com/office/drawing/2014/main" id="{18A60635-AFAE-427A-9397-7DEBB93F8B38}"/>
              </a:ext>
            </a:extLst>
          </p:cNvPr>
          <p:cNvSpPr>
            <a:spLocks xmlns:a="http://schemas.openxmlformats.org/drawingml/2006/main" noGrp="1"/>
          </p:cNvSpPr>
          <p:nvPr/>
        </p:nvSpPr>
        <p:spPr>
          <a:xfrm xmlns:a="http://schemas.openxmlformats.org/drawingml/2006/main">
            <a:off x="838200" y="2800350"/>
            <a:ext cx="3905250" cy="476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采集办公室拓扑、黑板快照和 Gene（技能基因）分配。</a:t>
            </a:r>
          </a:p>
        </p:txBody>
      </p:sp>
      <p:sp>
        <p:nvSpPr>
          <p:cNvPr id="9" name="step-rule-治理">
            <a:extLst xmlns:a="http://schemas.openxmlformats.org/drawingml/2006/main">
              <a:ext uri="{FF2B5EF4-FFF2-40B4-BE49-F238E27FC236}">
                <a16:creationId xmlns:a16="http://schemas.microsoft.com/office/drawing/2014/main" id="{C82DB50E-CB27-4984-8C33-F00257E39E49}"/>
              </a:ext>
            </a:extLst>
          </p:cNvPr>
          <p:cNvSpPr>
            <a:spLocks xmlns:a="http://schemas.openxmlformats.org/drawingml/2006/main" noGrp="1"/>
          </p:cNvSpPr>
          <p:nvPr/>
        </p:nvSpPr>
        <p:spPr>
          <a:xfrm xmlns:a="http://schemas.openxmlformats.org/drawingml/2006/main">
            <a:off x="5067300" y="2209800"/>
            <a:ext cx="1047750" cy="47625"/>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prstDash val="solid"/>
          </a:ln>
        </p:spPr>
      </p:sp>
      <p:sp>
        <p:nvSpPr>
          <p:cNvPr id="10" name="">
            <a:extLst xmlns:a="http://schemas.openxmlformats.org/drawingml/2006/main">
              <a:ext uri="{FF2B5EF4-FFF2-40B4-BE49-F238E27FC236}">
                <a16:creationId xmlns:a16="http://schemas.microsoft.com/office/drawing/2014/main" id="{6173FF39-1C01-49E3-9678-DABBA4658E4F}"/>
              </a:ext>
            </a:extLst>
          </p:cNvPr>
          <p:cNvSpPr>
            <a:spLocks xmlns:a="http://schemas.openxmlformats.org/drawingml/2006/main" noGrp="1"/>
          </p:cNvSpPr>
          <p:nvPr/>
        </p:nvSpPr>
        <p:spPr>
          <a:xfrm xmlns:a="http://schemas.openxmlformats.org/drawingml/2006/main">
            <a:off x="506730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治理</a:t>
            </a:r>
          </a:p>
        </p:txBody>
      </p:sp>
      <p:sp>
        <p:nvSpPr>
          <p:cNvPr id="11" name="">
            <a:extLst xmlns:a="http://schemas.openxmlformats.org/drawingml/2006/main">
              <a:ext uri="{FF2B5EF4-FFF2-40B4-BE49-F238E27FC236}">
                <a16:creationId xmlns:a16="http://schemas.microsoft.com/office/drawing/2014/main" id="{8C7183C6-475A-49E3-805F-7BE937AA9F19}"/>
              </a:ext>
            </a:extLst>
          </p:cNvPr>
          <p:cNvSpPr>
            <a:spLocks xmlns:a="http://schemas.openxmlformats.org/drawingml/2006/main" noGrp="1"/>
          </p:cNvSpPr>
          <p:nvPr/>
        </p:nvSpPr>
        <p:spPr>
          <a:xfrm xmlns:a="http://schemas.openxmlformats.org/drawingml/2006/main">
            <a:off x="5067300" y="2800350"/>
            <a:ext cx="39052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模板名称唯一，支持 update/overwrite（更新/覆盖）与 delete（删除）。</a:t>
            </a:r>
          </a:p>
        </p:txBody>
      </p:sp>
      <p:sp>
        <p:nvSpPr>
          <p:cNvPr id="12" name="step-rule-选择">
            <a:extLst xmlns:a="http://schemas.openxmlformats.org/drawingml/2006/main">
              <a:ext uri="{FF2B5EF4-FFF2-40B4-BE49-F238E27FC236}">
                <a16:creationId xmlns:a16="http://schemas.microsoft.com/office/drawing/2014/main" id="{9040FC75-EDB4-4CC1-9F95-646667224082}"/>
              </a:ext>
            </a:extLst>
          </p:cNvPr>
          <p:cNvSpPr>
            <a:spLocks xmlns:a="http://schemas.openxmlformats.org/drawingml/2006/main" noGrp="1"/>
          </p:cNvSpPr>
          <p:nvPr/>
        </p:nvSpPr>
        <p:spPr>
          <a:xfrm xmlns:a="http://schemas.openxmlformats.org/drawingml/2006/main">
            <a:off x="9315450" y="2209800"/>
            <a:ext cx="104775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13" name="">
            <a:extLst xmlns:a="http://schemas.openxmlformats.org/drawingml/2006/main">
              <a:ext uri="{FF2B5EF4-FFF2-40B4-BE49-F238E27FC236}">
                <a16:creationId xmlns:a16="http://schemas.microsoft.com/office/drawing/2014/main" id="{D126DC4B-62D1-4A57-BE24-B2063BAF6F8B}"/>
              </a:ext>
            </a:extLst>
          </p:cNvPr>
          <p:cNvSpPr>
            <a:spLocks xmlns:a="http://schemas.openxmlformats.org/drawingml/2006/main" noGrp="1"/>
          </p:cNvSpPr>
          <p:nvPr/>
        </p:nvSpPr>
        <p:spPr>
          <a:xfrm xmlns:a="http://schemas.openxmlformats.org/drawingml/2006/main">
            <a:off x="931545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选择</a:t>
            </a:r>
          </a:p>
        </p:txBody>
      </p:sp>
      <p:sp>
        <p:nvSpPr>
          <p:cNvPr id="14" name="">
            <a:extLst xmlns:a="http://schemas.openxmlformats.org/drawingml/2006/main">
              <a:ext uri="{FF2B5EF4-FFF2-40B4-BE49-F238E27FC236}">
                <a16:creationId xmlns:a16="http://schemas.microsoft.com/office/drawing/2014/main" id="{76A8DC49-201D-4DD6-A189-3BF5BC39E780}"/>
              </a:ext>
            </a:extLst>
          </p:cNvPr>
          <p:cNvSpPr>
            <a:spLocks xmlns:a="http://schemas.openxmlformats.org/drawingml/2006/main" noGrp="1"/>
          </p:cNvSpPr>
          <p:nvPr/>
        </p:nvSpPr>
        <p:spPr>
          <a:xfrm xmlns:a="http://schemas.openxmlformats.org/drawingml/2006/main">
            <a:off x="9315450" y="2800350"/>
            <a:ext cx="3905250" cy="476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一键部署时可交互选择拓扑节点和目标配置。</a:t>
            </a:r>
          </a:p>
        </p:txBody>
      </p:sp>
      <p:sp>
        <p:nvSpPr>
          <p:cNvPr id="15" name="step-rule-通知">
            <a:extLst xmlns:a="http://schemas.openxmlformats.org/drawingml/2006/main">
              <a:ext uri="{FF2B5EF4-FFF2-40B4-BE49-F238E27FC236}">
                <a16:creationId xmlns:a16="http://schemas.microsoft.com/office/drawing/2014/main" id="{CDA95BF4-6221-4FB0-B313-67694FFAA7F1}"/>
              </a:ext>
            </a:extLst>
          </p:cNvPr>
          <p:cNvSpPr>
            <a:spLocks xmlns:a="http://schemas.openxmlformats.org/drawingml/2006/main" noGrp="1"/>
          </p:cNvSpPr>
          <p:nvPr/>
        </p:nvSpPr>
        <p:spPr>
          <a:xfrm xmlns:a="http://schemas.openxmlformats.org/drawingml/2006/main">
            <a:off x="13544550" y="2209800"/>
            <a:ext cx="1047750" cy="47625"/>
          </a:xfrm>
          <a:prstGeom xmlns:a="http://schemas.openxmlformats.org/drawingml/2006/main" prst="rect">
            <a:avLst/>
          </a:prstGeom>
          <a:solidFill xmlns:a="http://schemas.openxmlformats.org/drawingml/2006/main">
            <a:srgbClr val="52D1DC"/>
          </a:solidFill>
          <a:ln xmlns:a="http://schemas.openxmlformats.org/drawingml/2006/main" w="0">
            <a:solidFill>
              <a:srgbClr val="52D1DC"/>
            </a:solidFill>
            <a:prstDash val="solid"/>
          </a:ln>
        </p:spPr>
      </p:sp>
      <p:sp>
        <p:nvSpPr>
          <p:cNvPr id="16" name="">
            <a:extLst xmlns:a="http://schemas.openxmlformats.org/drawingml/2006/main">
              <a:ext uri="{FF2B5EF4-FFF2-40B4-BE49-F238E27FC236}">
                <a16:creationId xmlns:a16="http://schemas.microsoft.com/office/drawing/2014/main" id="{25C2493F-C95F-4B31-9313-EEAA4E460405}"/>
              </a:ext>
            </a:extLst>
          </p:cNvPr>
          <p:cNvSpPr>
            <a:spLocks xmlns:a="http://schemas.openxmlformats.org/drawingml/2006/main" noGrp="1"/>
          </p:cNvSpPr>
          <p:nvPr/>
        </p:nvSpPr>
        <p:spPr>
          <a:xfrm xmlns:a="http://schemas.openxmlformats.org/drawingml/2006/main">
            <a:off x="1354455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通知</a:t>
            </a:r>
          </a:p>
        </p:txBody>
      </p:sp>
      <p:sp>
        <p:nvSpPr>
          <p:cNvPr id="17" name="">
            <a:extLst xmlns:a="http://schemas.openxmlformats.org/drawingml/2006/main">
              <a:ext uri="{FF2B5EF4-FFF2-40B4-BE49-F238E27FC236}">
                <a16:creationId xmlns:a16="http://schemas.microsoft.com/office/drawing/2014/main" id="{C2D9F51A-A922-48BE-AE04-F684A9EC4A2D}"/>
              </a:ext>
            </a:extLst>
          </p:cNvPr>
          <p:cNvSpPr>
            <a:spLocks xmlns:a="http://schemas.openxmlformats.org/drawingml/2006/main" noGrp="1"/>
          </p:cNvSpPr>
          <p:nvPr/>
        </p:nvSpPr>
        <p:spPr>
          <a:xfrm xmlns:a="http://schemas.openxmlformats.org/drawingml/2006/main">
            <a:off x="13544550" y="2800350"/>
            <a:ext cx="39052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部署过程通过 SSE（服务端推送）反馈状态，模板卡片更适合浏览。</a:t>
            </a:r>
          </a:p>
        </p:txBody>
      </p:sp>
      <p:sp>
        <p:nvSpPr>
          <p:cNvPr id="18" name="pill-node_cards（节点卡片表）兼容">
            <a:extLst xmlns:a="http://schemas.openxmlformats.org/drawingml/2006/main">
              <a:ext uri="{FF2B5EF4-FFF2-40B4-BE49-F238E27FC236}">
                <a16:creationId xmlns:a16="http://schemas.microsoft.com/office/drawing/2014/main" id="{97133400-1E5E-400C-A979-A80F523FAAD1}"/>
              </a:ext>
            </a:extLst>
          </p:cNvPr>
          <p:cNvSpPr>
            <a:spLocks xmlns:a="http://schemas.openxmlformats.org/drawingml/2006/main" noGrp="1"/>
          </p:cNvSpPr>
          <p:nvPr/>
        </p:nvSpPr>
        <p:spPr>
          <a:xfrm xmlns:a="http://schemas.openxmlformats.org/drawingml/2006/main">
            <a:off x="838200" y="8763000"/>
            <a:ext cx="3238500" cy="342900"/>
          </a:xfrm>
          <a:prstGeom xmlns:a="http://schemas.openxmlformats.org/drawingml/2006/main" prst="roundRect">
            <a:avLst>
              <a:gd name="adj" fmla="val 50000"/>
            </a:avLst>
          </a:prstGeom>
          <a:solidFill xmlns:a="http://schemas.openxmlformats.org/drawingml/2006/main">
            <a:srgbClr val="3366FF">
              <a:alpha val="7843"/>
            </a:srgbClr>
          </a:solidFill>
          <a:ln xmlns:a="http://schemas.openxmlformats.org/drawingml/2006/main" w="9525">
            <a:solidFill>
              <a:srgbClr val="D7DEE7"/>
            </a:solidFill>
            <a:prstDash val="solid"/>
          </a:ln>
        </p:spPr>
      </p:sp>
      <p:sp>
        <p:nvSpPr>
          <p:cNvPr id="19" name="">
            <a:extLst xmlns:a="http://schemas.openxmlformats.org/drawingml/2006/main">
              <a:ext uri="{FF2B5EF4-FFF2-40B4-BE49-F238E27FC236}">
                <a16:creationId xmlns:a16="http://schemas.microsoft.com/office/drawing/2014/main" id="{E547E7E1-47FA-4C16-B6D1-F345C9D2A695}"/>
              </a:ext>
            </a:extLst>
          </p:cNvPr>
          <p:cNvSpPr>
            <a:spLocks xmlns:a="http://schemas.openxmlformats.org/drawingml/2006/main" noGrp="1"/>
          </p:cNvSpPr>
          <p:nvPr/>
        </p:nvSpPr>
        <p:spPr>
          <a:xfrm xmlns:a="http://schemas.openxmlformats.org/drawingml/2006/main">
            <a:off x="1009650" y="88392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3366FF"/>
                </a:solidFill>
                <a:latin typeface="PingFang SC"/>
                <a:ea typeface="PingFang SC"/>
                <a:cs typeface="PingFang SC"/>
              </a:defRPr>
            </a:pPr>
            <a:r>
              <a:rPr sz="1350" b="1">
                <a:solidFill>
                  <a:srgbClr val="3366FF"/>
                </a:solidFill>
                <a:latin typeface="PingFang SC"/>
                <a:ea typeface="PingFang SC"/>
                <a:cs typeface="PingFang SC"/>
              </a:rPr>
              <a:t>node_cards（节点卡片表）兼容</a:t>
            </a:r>
          </a:p>
        </p:txBody>
      </p:sp>
      <p:sp>
        <p:nvSpPr>
          <p:cNvPr id="20" name="pill-legacy 表双写过渡">
            <a:extLst xmlns:a="http://schemas.openxmlformats.org/drawingml/2006/main">
              <a:ext uri="{FF2B5EF4-FFF2-40B4-BE49-F238E27FC236}">
                <a16:creationId xmlns:a16="http://schemas.microsoft.com/office/drawing/2014/main" id="{F5FC457B-A610-4B05-989D-695F8AEB75F1}"/>
              </a:ext>
            </a:extLst>
          </p:cNvPr>
          <p:cNvSpPr>
            <a:spLocks xmlns:a="http://schemas.openxmlformats.org/drawingml/2006/main" noGrp="1"/>
          </p:cNvSpPr>
          <p:nvPr/>
        </p:nvSpPr>
        <p:spPr>
          <a:xfrm xmlns:a="http://schemas.openxmlformats.org/drawingml/2006/main">
            <a:off x="4248150" y="8763000"/>
            <a:ext cx="3238500" cy="342900"/>
          </a:xfrm>
          <a:prstGeom xmlns:a="http://schemas.openxmlformats.org/drawingml/2006/main" prst="roundRect">
            <a:avLst>
              <a:gd name="adj" fmla="val 50000"/>
            </a:avLst>
          </a:prstGeom>
          <a:solidFill xmlns:a="http://schemas.openxmlformats.org/drawingml/2006/main">
            <a:srgbClr val="5B6875">
              <a:alpha val="7843"/>
            </a:srgbClr>
          </a:solidFill>
          <a:ln xmlns:a="http://schemas.openxmlformats.org/drawingml/2006/main" w="9525">
            <a:solidFill>
              <a:srgbClr val="D7DEE7"/>
            </a:solidFill>
            <a:prstDash val="solid"/>
          </a:ln>
        </p:spPr>
      </p:sp>
      <p:sp>
        <p:nvSpPr>
          <p:cNvPr id="21" name="">
            <a:extLst xmlns:a="http://schemas.openxmlformats.org/drawingml/2006/main">
              <a:ext uri="{FF2B5EF4-FFF2-40B4-BE49-F238E27FC236}">
                <a16:creationId xmlns:a16="http://schemas.microsoft.com/office/drawing/2014/main" id="{5D15911B-EC73-46D2-8E7D-67B6DAB46551}"/>
              </a:ext>
            </a:extLst>
          </p:cNvPr>
          <p:cNvSpPr>
            <a:spLocks xmlns:a="http://schemas.openxmlformats.org/drawingml/2006/main" noGrp="1"/>
          </p:cNvSpPr>
          <p:nvPr/>
        </p:nvSpPr>
        <p:spPr>
          <a:xfrm xmlns:a="http://schemas.openxmlformats.org/drawingml/2006/main">
            <a:off x="4419600" y="88392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5B6875"/>
                </a:solidFill>
                <a:latin typeface="PingFang SC"/>
                <a:ea typeface="PingFang SC"/>
                <a:cs typeface="PingFang SC"/>
              </a:defRPr>
            </a:pPr>
            <a:r>
              <a:rPr sz="1350" b="1">
                <a:solidFill>
                  <a:srgbClr val="5B6875"/>
                </a:solidFill>
                <a:latin typeface="PingFang SC"/>
                <a:ea typeface="PingFang SC"/>
                <a:cs typeface="PingFang SC"/>
              </a:rPr>
              <a:t>legacy 表双写过渡</a:t>
            </a:r>
          </a:p>
        </p:txBody>
      </p:sp>
      <p:sp>
        <p:nvSpPr>
          <p:cNvPr id="22" name="pill-组织边界收紧">
            <a:extLst xmlns:a="http://schemas.openxmlformats.org/drawingml/2006/main">
              <a:ext uri="{FF2B5EF4-FFF2-40B4-BE49-F238E27FC236}">
                <a16:creationId xmlns:a16="http://schemas.microsoft.com/office/drawing/2014/main" id="{40A6D3A5-FFAD-4A79-B37F-BF0F114B3199}"/>
              </a:ext>
            </a:extLst>
          </p:cNvPr>
          <p:cNvSpPr>
            <a:spLocks xmlns:a="http://schemas.openxmlformats.org/drawingml/2006/main" noGrp="1"/>
          </p:cNvSpPr>
          <p:nvPr/>
        </p:nvSpPr>
        <p:spPr>
          <a:xfrm xmlns:a="http://schemas.openxmlformats.org/drawingml/2006/main">
            <a:off x="7658100" y="8763000"/>
            <a:ext cx="3238500" cy="342900"/>
          </a:xfrm>
          <a:prstGeom xmlns:a="http://schemas.openxmlformats.org/drawingml/2006/main" prst="roundRect">
            <a:avLst>
              <a:gd name="adj" fmla="val 50000"/>
            </a:avLst>
          </a:prstGeom>
          <a:solidFill xmlns:a="http://schemas.openxmlformats.org/drawingml/2006/main">
            <a:srgbClr val="FF6B6B">
              <a:alpha val="7843"/>
            </a:srgbClr>
          </a:solidFill>
          <a:ln xmlns:a="http://schemas.openxmlformats.org/drawingml/2006/main" w="9525">
            <a:solidFill>
              <a:srgbClr val="D7DEE7"/>
            </a:solidFill>
            <a:prstDash val="solid"/>
          </a:ln>
        </p:spPr>
      </p:sp>
      <p:sp>
        <p:nvSpPr>
          <p:cNvPr id="23" name="">
            <a:extLst xmlns:a="http://schemas.openxmlformats.org/drawingml/2006/main">
              <a:ext uri="{FF2B5EF4-FFF2-40B4-BE49-F238E27FC236}">
                <a16:creationId xmlns:a16="http://schemas.microsoft.com/office/drawing/2014/main" id="{BAD9971D-B4FD-472C-B73A-9B7BC0F3CF0F}"/>
              </a:ext>
            </a:extLst>
          </p:cNvPr>
          <p:cNvSpPr>
            <a:spLocks xmlns:a="http://schemas.openxmlformats.org/drawingml/2006/main" noGrp="1"/>
          </p:cNvSpPr>
          <p:nvPr/>
        </p:nvSpPr>
        <p:spPr>
          <a:xfrm xmlns:a="http://schemas.openxmlformats.org/drawingml/2006/main">
            <a:off x="7829550" y="88392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FF6B6B"/>
                </a:solidFill>
                <a:latin typeface="PingFang SC"/>
                <a:ea typeface="PingFang SC"/>
                <a:cs typeface="PingFang SC"/>
              </a:defRPr>
            </a:pPr>
            <a:r>
              <a:rPr sz="1350" b="1">
                <a:solidFill>
                  <a:srgbClr val="FF6B6B"/>
                </a:solidFill>
                <a:latin typeface="PingFang SC"/>
                <a:ea typeface="PingFang SC"/>
                <a:cs typeface="PingFang SC"/>
              </a:rPr>
              <a:t>组织边界收紧</a:t>
            </a:r>
          </a:p>
        </p:txBody>
      </p:sp>
      <p:sp>
        <p:nvSpPr>
          <p:cNvPr id="24" name="footer-rule">
            <a:extLst xmlns:a="http://schemas.openxmlformats.org/drawingml/2006/main">
              <a:ext uri="{FF2B5EF4-FFF2-40B4-BE49-F238E27FC236}">
                <a16:creationId xmlns:a16="http://schemas.microsoft.com/office/drawing/2014/main" id="{AA2E7748-B915-44C1-82C2-CAA1373DA3EB}"/>
              </a:ext>
            </a:extLst>
          </p:cNvPr>
          <p:cNvSpPr>
            <a:spLocks xmlns:a="http://schemas.openxmlformats.org/drawingml/2006/main" noGrp="1"/>
          </p:cNvSpPr>
          <p:nvPr/>
        </p:nvSpPr>
        <p:spPr>
          <a:xfrm xmlns:a="http://schemas.openxmlformats.org/drawingml/2006/main">
            <a:off x="838200" y="9544050"/>
            <a:ext cx="1129665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25" name="footer-label">
            <a:extLst xmlns:a="http://schemas.openxmlformats.org/drawingml/2006/main">
              <a:ext uri="{FF2B5EF4-FFF2-40B4-BE49-F238E27FC236}">
                <a16:creationId xmlns:a16="http://schemas.microsoft.com/office/drawing/2014/main" id="{75AD0429-9E51-49C0-A369-E68B57CE5BF8}"/>
              </a:ext>
            </a:extLst>
          </p:cNvPr>
          <p:cNvSpPr>
            <a:spLocks xmlns:a="http://schemas.openxmlformats.org/drawingml/2006/main" noGrp="1"/>
          </p:cNvSpPr>
          <p:nvPr/>
        </p:nvSpPr>
        <p:spPr>
          <a:xfrm xmlns:a="http://schemas.openxmlformats.org/drawingml/2006/main">
            <a:off x="12287250" y="9410700"/>
            <a:ext cx="51625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代表提交：feat(template): template update/overwrite, delete, and name uniqueness</a:t>
            </a:r>
          </a:p>
        </p:txBody>
      </p:sp>
    </p:spTree>
    <p:extLst>
      <p:ext uri="{BB962C8B-B14F-4D97-AF65-F5344CB8AC3E}">
        <p14:creationId xmlns:p14="http://schemas.microsoft.com/office/powerpoint/2010/main" val="18918041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51D2048-2296-4C5D-B499-B16503456AA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EEF4EF"/>
          </a:solidFill>
          <a:ln xmlns:a="http://schemas.openxmlformats.org/drawingml/2006/main" w="0">
            <a:solidFill>
              <a:srgbClr val="EEF4EF"/>
            </a:solidFill>
            <a:prstDash val="solid"/>
          </a:ln>
        </p:spPr>
      </p:sp>
      <p:sp>
        <p:nvSpPr>
          <p:cNvPr id="2" name="kicker-rule">
            <a:extLst xmlns:a="http://schemas.openxmlformats.org/drawingml/2006/main">
              <a:ext uri="{FF2B5EF4-FFF2-40B4-BE49-F238E27FC236}">
                <a16:creationId xmlns:a16="http://schemas.microsoft.com/office/drawing/2014/main" id="{617336B3-7F8C-4C5A-8B7F-CF30166309CF}"/>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3" name="kicker">
            <a:extLst xmlns:a="http://schemas.openxmlformats.org/drawingml/2006/main">
              <a:ext uri="{FF2B5EF4-FFF2-40B4-BE49-F238E27FC236}">
                <a16:creationId xmlns:a16="http://schemas.microsoft.com/office/drawing/2014/main" id="{B6F014F8-1A66-4843-B533-D4451740FCA3}"/>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5B6875"/>
                </a:solidFill>
                <a:latin typeface="PingFang SC"/>
                <a:ea typeface="PingFang SC"/>
                <a:cs typeface="PingFang SC"/>
              </a:defRPr>
            </a:pPr>
            <a:r>
              <a:rPr sz="1350" b="1">
                <a:solidFill>
                  <a:srgbClr val="5B6875"/>
                </a:solidFill>
                <a:latin typeface="PingFang SC"/>
                <a:ea typeface="PingFang SC"/>
                <a:cs typeface="PingFang SC"/>
              </a:rPr>
              <a:t>04 LLM Provider</a:t>
            </a:r>
          </a:p>
        </p:txBody>
      </p:sp>
      <p:sp>
        <p:nvSpPr>
          <p:cNvPr id="4" name="slide-title">
            <a:extLst xmlns:a="http://schemas.openxmlformats.org/drawingml/2006/main">
              <a:ext uri="{FF2B5EF4-FFF2-40B4-BE49-F238E27FC236}">
                <a16:creationId xmlns:a16="http://schemas.microsoft.com/office/drawing/2014/main" id="{055B4E4B-83CC-4140-BBF9-1ED3F67B1D07}"/>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16212D"/>
                </a:solidFill>
                <a:latin typeface="PingFang SC"/>
                <a:ea typeface="PingFang SC"/>
                <a:cs typeface="PingFang SC"/>
              </a:defRPr>
            </a:pPr>
            <a:r>
              <a:rPr sz="3900" b="1">
                <a:solidFill>
                  <a:srgbClr val="16212D"/>
                </a:solidFill>
                <a:latin typeface="PingFang SC"/>
                <a:ea typeface="PingFang SC"/>
                <a:cs typeface="PingFang SC"/>
              </a:rPr>
              <a:t>LLM Provider（大模型供应商）体系重构</a:t>
            </a:r>
          </a:p>
        </p:txBody>
      </p:sp>
      <p:sp>
        <p:nvSpPr>
          <p:cNvPr id="5" name="slide-subtitle">
            <a:extLst xmlns:a="http://schemas.openxmlformats.org/drawingml/2006/main">
              <a:ext uri="{FF2B5EF4-FFF2-40B4-BE49-F238E27FC236}">
                <a16:creationId xmlns:a16="http://schemas.microsoft.com/office/drawing/2014/main" id="{BD456270-0ECE-4014-B978-3789DB68BE2D}"/>
              </a:ext>
            </a:extLst>
          </p:cNvPr>
          <p:cNvSpPr>
            <a:spLocks xmlns:a="http://schemas.openxmlformats.org/drawingml/2006/main" noGrp="1"/>
          </p:cNvSpPr>
          <p:nvPr/>
        </p:nvSpPr>
        <p:spPr>
          <a:xfrm xmlns:a="http://schemas.openxmlformats.org/drawingml/2006/main">
            <a:off x="838200" y="1619250"/>
            <a:ext cx="97345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5B6875"/>
                </a:solidFill>
                <a:latin typeface="PingFang SC"/>
                <a:ea typeface="PingFang SC"/>
                <a:cs typeface="PingFang SC"/>
              </a:defRPr>
            </a:pPr>
            <a:r>
              <a:rPr sz="1800">
                <a:solidFill>
                  <a:srgbClr val="5B6875"/>
                </a:solidFill>
                <a:latin typeface="PingFang SC"/>
                <a:ea typeface="PingFang SC"/>
                <a:cs typeface="PingFang SC"/>
              </a:rPr>
              <a:t>团队模型配置从“存几个 Key”变成可管理、可验证、可分发的 Working Plan（团队模型方案）。</a:t>
            </a:r>
          </a:p>
        </p:txBody>
      </p:sp>
      <p:sp>
        <p:nvSpPr>
          <p:cNvPr id="6" name="">
            <a:extLst xmlns:a="http://schemas.openxmlformats.org/drawingml/2006/main">
              <a:ext uri="{FF2B5EF4-FFF2-40B4-BE49-F238E27FC236}">
                <a16:creationId xmlns:a16="http://schemas.microsoft.com/office/drawing/2014/main" id="{BE341614-9840-4C71-B072-9A40A4E80F62}"/>
              </a:ext>
            </a:extLst>
          </p:cNvPr>
          <p:cNvSpPr>
            <a:spLocks xmlns:a="http://schemas.openxmlformats.org/drawingml/2006/main" noGrp="1"/>
          </p:cNvSpPr>
          <p:nvPr/>
        </p:nvSpPr>
        <p:spPr>
          <a:xfrm xmlns:a="http://schemas.openxmlformats.org/drawingml/2006/main">
            <a:off x="838200" y="4191000"/>
            <a:ext cx="74104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450" b="1">
                <a:solidFill>
                  <a:srgbClr val="3366FF"/>
                </a:solidFill>
                <a:latin typeface="Aptos"/>
                <a:ea typeface="Aptos"/>
                <a:cs typeface="Aptos"/>
              </a:defRPr>
            </a:pPr>
            <a:r>
              <a:rPr sz="3450" b="1">
                <a:solidFill>
                  <a:srgbClr val="3366FF"/>
                </a:solidFill>
                <a:latin typeface="Aptos"/>
                <a:ea typeface="Aptos"/>
                <a:cs typeface="Aptos"/>
              </a:rPr>
              <a:t>OrgModelProvider</a:t>
            </a:r>
          </a:p>
        </p:txBody>
      </p:sp>
      <p:sp>
        <p:nvSpPr>
          <p:cNvPr id="7" name="">
            <a:extLst xmlns:a="http://schemas.openxmlformats.org/drawingml/2006/main">
              <a:ext uri="{FF2B5EF4-FFF2-40B4-BE49-F238E27FC236}">
                <a16:creationId xmlns:a16="http://schemas.microsoft.com/office/drawing/2014/main" id="{945A50B9-E5CE-43B5-BEDE-9606586D7F47}"/>
              </a:ext>
            </a:extLst>
          </p:cNvPr>
          <p:cNvSpPr>
            <a:spLocks xmlns:a="http://schemas.openxmlformats.org/drawingml/2006/main" noGrp="1"/>
          </p:cNvSpPr>
          <p:nvPr/>
        </p:nvSpPr>
        <p:spPr>
          <a:xfrm xmlns:a="http://schemas.openxmlformats.org/drawingml/2006/main">
            <a:off x="838200" y="4838700"/>
            <a:ext cx="74104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a:solidFill>
                  <a:srgbClr val="16212D"/>
                </a:solidFill>
                <a:latin typeface="PingFang SC"/>
                <a:ea typeface="PingFang SC"/>
                <a:cs typeface="PingFang SC"/>
              </a:defRPr>
            </a:pPr>
            <a:r>
              <a:rPr sz="2100">
                <a:solidFill>
                  <a:srgbClr val="16212D"/>
                </a:solidFill>
                <a:latin typeface="PingFang SC"/>
                <a:ea typeface="PingFang SC"/>
                <a:cs typeface="PingFang SC"/>
              </a:rPr>
              <a:t>（组织模型供应商）成为组织级模型能力的核心对象。</a:t>
            </a:r>
          </a:p>
        </p:txBody>
      </p:sp>
      <p:sp>
        <p:nvSpPr>
          <p:cNvPr id="8" name="pill-api_type（接口协议类型）">
            <a:extLst xmlns:a="http://schemas.openxmlformats.org/drawingml/2006/main">
              <a:ext uri="{FF2B5EF4-FFF2-40B4-BE49-F238E27FC236}">
                <a16:creationId xmlns:a16="http://schemas.microsoft.com/office/drawing/2014/main" id="{45A98E2E-0FEC-43D5-BE83-E3B143EB1ABF}"/>
              </a:ext>
            </a:extLst>
          </p:cNvPr>
          <p:cNvSpPr>
            <a:spLocks xmlns:a="http://schemas.openxmlformats.org/drawingml/2006/main" noGrp="1"/>
          </p:cNvSpPr>
          <p:nvPr/>
        </p:nvSpPr>
        <p:spPr>
          <a:xfrm xmlns:a="http://schemas.openxmlformats.org/drawingml/2006/main">
            <a:off x="838200" y="5360289"/>
            <a:ext cx="3238500" cy="323850"/>
          </a:xfrm>
          <a:prstGeom xmlns:a="http://schemas.openxmlformats.org/drawingml/2006/main" prst="roundRect">
            <a:avLst>
              <a:gd name="adj" fmla="val 50000"/>
            </a:avLst>
          </a:prstGeom>
          <a:solidFill xmlns:a="http://schemas.openxmlformats.org/drawingml/2006/main">
            <a:srgbClr val="3366FF">
              <a:alpha val="9412"/>
            </a:srgbClr>
          </a:solidFill>
          <a:ln xmlns:a="http://schemas.openxmlformats.org/drawingml/2006/main" w="9525">
            <a:solidFill>
              <a:srgbClr val="D7DEE7"/>
            </a:solidFill>
            <a:prstDash val="solid"/>
          </a:ln>
        </p:spPr>
      </p:sp>
      <p:sp>
        <p:nvSpPr>
          <p:cNvPr id="9" name="">
            <a:extLst xmlns:a="http://schemas.openxmlformats.org/drawingml/2006/main">
              <a:ext uri="{FF2B5EF4-FFF2-40B4-BE49-F238E27FC236}">
                <a16:creationId xmlns:a16="http://schemas.microsoft.com/office/drawing/2014/main" id="{02C7034D-1B02-41D1-9EBB-054ABBB6F7A8}"/>
              </a:ext>
            </a:extLst>
          </p:cNvPr>
          <p:cNvSpPr>
            <a:spLocks xmlns:a="http://schemas.openxmlformats.org/drawingml/2006/main" noGrp="1"/>
          </p:cNvSpPr>
          <p:nvPr/>
        </p:nvSpPr>
        <p:spPr>
          <a:xfrm xmlns:a="http://schemas.openxmlformats.org/drawingml/2006/main">
            <a:off x="1009650" y="54292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3366FF"/>
                </a:solidFill>
                <a:latin typeface="PingFang SC"/>
                <a:ea typeface="PingFang SC"/>
                <a:cs typeface="PingFang SC"/>
              </a:defRPr>
            </a:pPr>
            <a:r>
              <a:rPr sz="1350" b="1">
                <a:solidFill>
                  <a:srgbClr val="3366FF"/>
                </a:solidFill>
                <a:latin typeface="PingFang SC"/>
                <a:ea typeface="PingFang SC"/>
                <a:cs typeface="PingFang SC"/>
              </a:rPr>
              <a:t>api_type（接口协议类型）</a:t>
            </a:r>
          </a:p>
        </p:txBody>
      </p:sp>
      <p:sp>
        <p:nvSpPr>
          <p:cNvPr id="10" name="pill-base_url（接口地址）">
            <a:extLst xmlns:a="http://schemas.openxmlformats.org/drawingml/2006/main">
              <a:ext uri="{FF2B5EF4-FFF2-40B4-BE49-F238E27FC236}">
                <a16:creationId xmlns:a16="http://schemas.microsoft.com/office/drawing/2014/main" id="{006A6BFE-CF33-429B-9FCF-72E5D94ED0E7}"/>
              </a:ext>
            </a:extLst>
          </p:cNvPr>
          <p:cNvSpPr>
            <a:spLocks xmlns:a="http://schemas.openxmlformats.org/drawingml/2006/main" noGrp="1"/>
          </p:cNvSpPr>
          <p:nvPr/>
        </p:nvSpPr>
        <p:spPr>
          <a:xfrm xmlns:a="http://schemas.openxmlformats.org/drawingml/2006/main">
            <a:off x="838200" y="5836539"/>
            <a:ext cx="3238500" cy="323850"/>
          </a:xfrm>
          <a:prstGeom xmlns:a="http://schemas.openxmlformats.org/drawingml/2006/main" prst="roundRect">
            <a:avLst>
              <a:gd name="adj" fmla="val 50000"/>
            </a:avLst>
          </a:prstGeom>
          <a:solidFill xmlns:a="http://schemas.openxmlformats.org/drawingml/2006/main">
            <a:srgbClr val="52D1DC">
              <a:alpha val="9412"/>
            </a:srgbClr>
          </a:solidFill>
          <a:ln xmlns:a="http://schemas.openxmlformats.org/drawingml/2006/main" w="9525">
            <a:solidFill>
              <a:srgbClr val="D7DEE7"/>
            </a:solidFill>
            <a:prstDash val="solid"/>
          </a:ln>
        </p:spPr>
      </p:sp>
      <p:sp>
        <p:nvSpPr>
          <p:cNvPr id="11" name="">
            <a:extLst xmlns:a="http://schemas.openxmlformats.org/drawingml/2006/main">
              <a:ext uri="{FF2B5EF4-FFF2-40B4-BE49-F238E27FC236}">
                <a16:creationId xmlns:a16="http://schemas.microsoft.com/office/drawing/2014/main" id="{725C9601-603F-4462-807B-FEDE785143E9}"/>
              </a:ext>
            </a:extLst>
          </p:cNvPr>
          <p:cNvSpPr>
            <a:spLocks xmlns:a="http://schemas.openxmlformats.org/drawingml/2006/main" noGrp="1"/>
          </p:cNvSpPr>
          <p:nvPr/>
        </p:nvSpPr>
        <p:spPr>
          <a:xfrm xmlns:a="http://schemas.openxmlformats.org/drawingml/2006/main">
            <a:off x="1009650" y="59055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52D1DC"/>
                </a:solidFill>
                <a:latin typeface="PingFang SC"/>
                <a:ea typeface="PingFang SC"/>
                <a:cs typeface="PingFang SC"/>
              </a:defRPr>
            </a:pPr>
            <a:r>
              <a:rPr sz="1350" b="1">
                <a:solidFill>
                  <a:srgbClr val="52D1DC"/>
                </a:solidFill>
                <a:latin typeface="PingFang SC"/>
                <a:ea typeface="PingFang SC"/>
                <a:cs typeface="PingFang SC"/>
              </a:rPr>
              <a:t>base_url（接口地址）</a:t>
            </a:r>
          </a:p>
        </p:txBody>
      </p:sp>
      <p:sp>
        <p:nvSpPr>
          <p:cNvPr id="12" name="pill-allowed_models（允许模型）">
            <a:extLst xmlns:a="http://schemas.openxmlformats.org/drawingml/2006/main">
              <a:ext uri="{FF2B5EF4-FFF2-40B4-BE49-F238E27FC236}">
                <a16:creationId xmlns:a16="http://schemas.microsoft.com/office/drawing/2014/main" id="{2E87D54B-1B00-4D9E-8CA3-FD1BA0193549}"/>
              </a:ext>
            </a:extLst>
          </p:cNvPr>
          <p:cNvSpPr>
            <a:spLocks xmlns:a="http://schemas.openxmlformats.org/drawingml/2006/main" noGrp="1"/>
          </p:cNvSpPr>
          <p:nvPr/>
        </p:nvSpPr>
        <p:spPr>
          <a:xfrm xmlns:a="http://schemas.openxmlformats.org/drawingml/2006/main">
            <a:off x="838200" y="6312789"/>
            <a:ext cx="3238500" cy="323850"/>
          </a:xfrm>
          <a:prstGeom xmlns:a="http://schemas.openxmlformats.org/drawingml/2006/main" prst="roundRect">
            <a:avLst>
              <a:gd name="adj" fmla="val 50000"/>
            </a:avLst>
          </a:prstGeom>
          <a:solidFill xmlns:a="http://schemas.openxmlformats.org/drawingml/2006/main">
            <a:srgbClr val="8AE6B0">
              <a:alpha val="9412"/>
            </a:srgbClr>
          </a:solidFill>
          <a:ln xmlns:a="http://schemas.openxmlformats.org/drawingml/2006/main" w="9525">
            <a:solidFill>
              <a:srgbClr val="D7DEE7"/>
            </a:solidFill>
            <a:prstDash val="solid"/>
          </a:ln>
        </p:spPr>
      </p:sp>
      <p:sp>
        <p:nvSpPr>
          <p:cNvPr id="13" name="">
            <a:extLst xmlns:a="http://schemas.openxmlformats.org/drawingml/2006/main">
              <a:ext uri="{FF2B5EF4-FFF2-40B4-BE49-F238E27FC236}">
                <a16:creationId xmlns:a16="http://schemas.microsoft.com/office/drawing/2014/main" id="{25411829-0C82-4337-B6DB-FF7CCA2B782E}"/>
              </a:ext>
            </a:extLst>
          </p:cNvPr>
          <p:cNvSpPr>
            <a:spLocks xmlns:a="http://schemas.openxmlformats.org/drawingml/2006/main" noGrp="1"/>
          </p:cNvSpPr>
          <p:nvPr/>
        </p:nvSpPr>
        <p:spPr>
          <a:xfrm xmlns:a="http://schemas.openxmlformats.org/drawingml/2006/main">
            <a:off x="1009650" y="63817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8AE6B0"/>
                </a:solidFill>
                <a:latin typeface="PingFang SC"/>
                <a:ea typeface="PingFang SC"/>
                <a:cs typeface="PingFang SC"/>
              </a:defRPr>
            </a:pPr>
            <a:r>
              <a:rPr sz="1350" b="1">
                <a:solidFill>
                  <a:srgbClr val="8AE6B0"/>
                </a:solidFill>
                <a:latin typeface="PingFang SC"/>
                <a:ea typeface="PingFang SC"/>
                <a:cs typeface="PingFang SC"/>
              </a:rPr>
              <a:t>allowed_models（允许模型）</a:t>
            </a:r>
          </a:p>
        </p:txBody>
      </p:sp>
      <p:sp>
        <p:nvSpPr>
          <p:cNvPr id="14" name="pill-skip_ssl_verify（跳过 SSL 校验）">
            <a:extLst xmlns:a="http://schemas.openxmlformats.org/drawingml/2006/main">
              <a:ext uri="{FF2B5EF4-FFF2-40B4-BE49-F238E27FC236}">
                <a16:creationId xmlns:a16="http://schemas.microsoft.com/office/drawing/2014/main" id="{BD7EE861-E9C0-47C8-AC5F-6E4D001109D7}"/>
              </a:ext>
            </a:extLst>
          </p:cNvPr>
          <p:cNvSpPr>
            <a:spLocks xmlns:a="http://schemas.openxmlformats.org/drawingml/2006/main" noGrp="1"/>
          </p:cNvSpPr>
          <p:nvPr/>
        </p:nvSpPr>
        <p:spPr>
          <a:xfrm xmlns:a="http://schemas.openxmlformats.org/drawingml/2006/main">
            <a:off x="838200" y="6789039"/>
            <a:ext cx="3238500" cy="323850"/>
          </a:xfrm>
          <a:prstGeom xmlns:a="http://schemas.openxmlformats.org/drawingml/2006/main" prst="roundRect">
            <a:avLst>
              <a:gd name="adj" fmla="val 50000"/>
            </a:avLst>
          </a:prstGeom>
          <a:solidFill xmlns:a="http://schemas.openxmlformats.org/drawingml/2006/main">
            <a:srgbClr val="FF6B6B">
              <a:alpha val="9412"/>
            </a:srgbClr>
          </a:solidFill>
          <a:ln xmlns:a="http://schemas.openxmlformats.org/drawingml/2006/main" w="9525">
            <a:solidFill>
              <a:srgbClr val="D7DEE7"/>
            </a:solidFill>
            <a:prstDash val="solid"/>
          </a:ln>
        </p:spPr>
      </p:sp>
      <p:sp>
        <p:nvSpPr>
          <p:cNvPr id="15" name="">
            <a:extLst xmlns:a="http://schemas.openxmlformats.org/drawingml/2006/main">
              <a:ext uri="{FF2B5EF4-FFF2-40B4-BE49-F238E27FC236}">
                <a16:creationId xmlns:a16="http://schemas.microsoft.com/office/drawing/2014/main" id="{344C6E3D-B625-4558-BE0E-8BD00D05DFD0}"/>
              </a:ext>
            </a:extLst>
          </p:cNvPr>
          <p:cNvSpPr>
            <a:spLocks xmlns:a="http://schemas.openxmlformats.org/drawingml/2006/main" noGrp="1"/>
          </p:cNvSpPr>
          <p:nvPr/>
        </p:nvSpPr>
        <p:spPr>
          <a:xfrm xmlns:a="http://schemas.openxmlformats.org/drawingml/2006/main">
            <a:off x="1009650" y="68580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FF6B6B"/>
                </a:solidFill>
                <a:latin typeface="PingFang SC"/>
                <a:ea typeface="PingFang SC"/>
                <a:cs typeface="PingFang SC"/>
              </a:defRPr>
            </a:pPr>
            <a:r>
              <a:rPr sz="1350" b="1">
                <a:solidFill>
                  <a:srgbClr val="FF6B6B"/>
                </a:solidFill>
                <a:latin typeface="PingFang SC"/>
                <a:ea typeface="PingFang SC"/>
                <a:cs typeface="PingFang SC"/>
              </a:rPr>
              <a:t>skip_ssl_verify（跳过 SSL 校验）</a:t>
            </a:r>
          </a:p>
        </p:txBody>
      </p:sp>
      <p:sp>
        <p:nvSpPr>
          <p:cNvPr id="16" name="step-rule-自定义 Provider（供应商）">
            <a:extLst xmlns:a="http://schemas.openxmlformats.org/drawingml/2006/main">
              <a:ext uri="{FF2B5EF4-FFF2-40B4-BE49-F238E27FC236}">
                <a16:creationId xmlns:a16="http://schemas.microsoft.com/office/drawing/2014/main" id="{370C80EB-D97B-487A-8D1F-34A3804088F1}"/>
              </a:ext>
            </a:extLst>
          </p:cNvPr>
          <p:cNvSpPr>
            <a:spLocks xmlns:a="http://schemas.openxmlformats.org/drawingml/2006/main" noGrp="1"/>
          </p:cNvSpPr>
          <p:nvPr/>
        </p:nvSpPr>
        <p:spPr>
          <a:xfrm xmlns:a="http://schemas.openxmlformats.org/drawingml/2006/main">
            <a:off x="8934450" y="4152900"/>
            <a:ext cx="104775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17" name="">
            <a:extLst xmlns:a="http://schemas.openxmlformats.org/drawingml/2006/main">
              <a:ext uri="{FF2B5EF4-FFF2-40B4-BE49-F238E27FC236}">
                <a16:creationId xmlns:a16="http://schemas.microsoft.com/office/drawing/2014/main" id="{88CB96FB-3462-42A5-99E3-7B995E56E6BC}"/>
              </a:ext>
            </a:extLst>
          </p:cNvPr>
          <p:cNvSpPr>
            <a:spLocks xmlns:a="http://schemas.openxmlformats.org/drawingml/2006/main" noGrp="1"/>
          </p:cNvSpPr>
          <p:nvPr/>
        </p:nvSpPr>
        <p:spPr>
          <a:xfrm xmlns:a="http://schemas.openxmlformats.org/drawingml/2006/main">
            <a:off x="8934450" y="4286250"/>
            <a:ext cx="85153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自定义 Provider（供应商）</a:t>
            </a:r>
          </a:p>
        </p:txBody>
      </p:sp>
      <p:sp>
        <p:nvSpPr>
          <p:cNvPr id="18" name="">
            <a:extLst xmlns:a="http://schemas.openxmlformats.org/drawingml/2006/main">
              <a:ext uri="{FF2B5EF4-FFF2-40B4-BE49-F238E27FC236}">
                <a16:creationId xmlns:a16="http://schemas.microsoft.com/office/drawing/2014/main" id="{0684CC57-EFBE-4369-9311-8B69BB688D16}"/>
              </a:ext>
            </a:extLst>
          </p:cNvPr>
          <p:cNvSpPr>
            <a:spLocks xmlns:a="http://schemas.openxmlformats.org/drawingml/2006/main" noGrp="1"/>
          </p:cNvSpPr>
          <p:nvPr/>
        </p:nvSpPr>
        <p:spPr>
          <a:xfrm xmlns:a="http://schemas.openxmlformats.org/drawingml/2006/main">
            <a:off x="8934450" y="4743450"/>
            <a:ext cx="8515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OpenAI/Anthropic/Gemini/OpenRouter 之外，可以接入组织自己的模型网关。</a:t>
            </a:r>
          </a:p>
        </p:txBody>
      </p:sp>
      <p:sp>
        <p:nvSpPr>
          <p:cNvPr id="19" name="step-rule-测试连接更真实">
            <a:extLst xmlns:a="http://schemas.openxmlformats.org/drawingml/2006/main">
              <a:ext uri="{FF2B5EF4-FFF2-40B4-BE49-F238E27FC236}">
                <a16:creationId xmlns:a16="http://schemas.microsoft.com/office/drawing/2014/main" id="{85F938E5-1174-47F7-A219-34FC5CE4DD58}"/>
              </a:ext>
            </a:extLst>
          </p:cNvPr>
          <p:cNvSpPr>
            <a:spLocks xmlns:a="http://schemas.openxmlformats.org/drawingml/2006/main" noGrp="1"/>
          </p:cNvSpPr>
          <p:nvPr/>
        </p:nvSpPr>
        <p:spPr>
          <a:xfrm xmlns:a="http://schemas.openxmlformats.org/drawingml/2006/main">
            <a:off x="8934450" y="5238750"/>
            <a:ext cx="104775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20" name="">
            <a:extLst xmlns:a="http://schemas.openxmlformats.org/drawingml/2006/main">
              <a:ext uri="{FF2B5EF4-FFF2-40B4-BE49-F238E27FC236}">
                <a16:creationId xmlns:a16="http://schemas.microsoft.com/office/drawing/2014/main" id="{D138194A-F83F-421C-B796-894D04D62C0E}"/>
              </a:ext>
            </a:extLst>
          </p:cNvPr>
          <p:cNvSpPr>
            <a:spLocks xmlns:a="http://schemas.openxmlformats.org/drawingml/2006/main" noGrp="1"/>
          </p:cNvSpPr>
          <p:nvPr/>
        </p:nvSpPr>
        <p:spPr>
          <a:xfrm xmlns:a="http://schemas.openxmlformats.org/drawingml/2006/main">
            <a:off x="8934450" y="5391150"/>
            <a:ext cx="85153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测试连接更真实</a:t>
            </a:r>
          </a:p>
        </p:txBody>
      </p:sp>
      <p:sp>
        <p:nvSpPr>
          <p:cNvPr id="21" name="">
            <a:extLst xmlns:a="http://schemas.openxmlformats.org/drawingml/2006/main">
              <a:ext uri="{FF2B5EF4-FFF2-40B4-BE49-F238E27FC236}">
                <a16:creationId xmlns:a16="http://schemas.microsoft.com/office/drawing/2014/main" id="{C59CCA02-958B-46FF-9F2A-21F3BB4F672C}"/>
              </a:ext>
            </a:extLst>
          </p:cNvPr>
          <p:cNvSpPr>
            <a:spLocks xmlns:a="http://schemas.openxmlformats.org/drawingml/2006/main" noGrp="1"/>
          </p:cNvSpPr>
          <p:nvPr/>
        </p:nvSpPr>
        <p:spPr>
          <a:xfrm xmlns:a="http://schemas.openxmlformats.org/drawingml/2006/main">
            <a:off x="8934450" y="5829300"/>
            <a:ext cx="8515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测试按钮改用 chat completion（对话补全）验证，并返回更具体错误信息。</a:t>
            </a:r>
          </a:p>
        </p:txBody>
      </p:sp>
      <p:sp>
        <p:nvSpPr>
          <p:cNvPr id="22" name="step-rule-LLM Proxy（大模型代理）成为硬依赖">
            <a:extLst xmlns:a="http://schemas.openxmlformats.org/drawingml/2006/main">
              <a:ext uri="{FF2B5EF4-FFF2-40B4-BE49-F238E27FC236}">
                <a16:creationId xmlns:a16="http://schemas.microsoft.com/office/drawing/2014/main" id="{83A66A77-44B9-4D30-82A2-77CB8FC4E3E1}"/>
              </a:ext>
            </a:extLst>
          </p:cNvPr>
          <p:cNvSpPr>
            <a:spLocks xmlns:a="http://schemas.openxmlformats.org/drawingml/2006/main" noGrp="1"/>
          </p:cNvSpPr>
          <p:nvPr/>
        </p:nvSpPr>
        <p:spPr>
          <a:xfrm xmlns:a="http://schemas.openxmlformats.org/drawingml/2006/main">
            <a:off x="8934450" y="6324600"/>
            <a:ext cx="1047750" cy="47625"/>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prstDash val="solid"/>
          </a:ln>
        </p:spPr>
      </p:sp>
      <p:sp>
        <p:nvSpPr>
          <p:cNvPr id="23" name="">
            <a:extLst xmlns:a="http://schemas.openxmlformats.org/drawingml/2006/main">
              <a:ext uri="{FF2B5EF4-FFF2-40B4-BE49-F238E27FC236}">
                <a16:creationId xmlns:a16="http://schemas.microsoft.com/office/drawing/2014/main" id="{E8E40F3A-145F-4FEB-9252-37A7F06C9BA5}"/>
              </a:ext>
            </a:extLst>
          </p:cNvPr>
          <p:cNvSpPr>
            <a:spLocks xmlns:a="http://schemas.openxmlformats.org/drawingml/2006/main" noGrp="1"/>
          </p:cNvSpPr>
          <p:nvPr/>
        </p:nvSpPr>
        <p:spPr>
          <a:xfrm xmlns:a="http://schemas.openxmlformats.org/drawingml/2006/main">
            <a:off x="8934450" y="6477000"/>
            <a:ext cx="85153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LLM Proxy（大模型代理）成为硬依赖</a:t>
            </a:r>
          </a:p>
        </p:txBody>
      </p:sp>
      <p:sp>
        <p:nvSpPr>
          <p:cNvPr id="24" name="">
            <a:extLst xmlns:a="http://schemas.openxmlformats.org/drawingml/2006/main">
              <a:ext uri="{FF2B5EF4-FFF2-40B4-BE49-F238E27FC236}">
                <a16:creationId xmlns:a16="http://schemas.microsoft.com/office/drawing/2014/main" id="{7D6AB561-AFCA-4B28-A7B5-E0E107F34C6C}"/>
              </a:ext>
            </a:extLst>
          </p:cNvPr>
          <p:cNvSpPr>
            <a:spLocks xmlns:a="http://schemas.openxmlformats.org/drawingml/2006/main" noGrp="1"/>
          </p:cNvSpPr>
          <p:nvPr/>
        </p:nvSpPr>
        <p:spPr>
          <a:xfrm xmlns:a="http://schemas.openxmlformats.org/drawingml/2006/main">
            <a:off x="8934450" y="6915150"/>
            <a:ext cx="85153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团队 Key（密钥）走统一代理，减少直写实例配置造成的绕路和不一致。</a:t>
            </a:r>
          </a:p>
        </p:txBody>
      </p:sp>
      <p:sp>
        <p:nvSpPr>
          <p:cNvPr id="25" name="footer-rule">
            <a:extLst xmlns:a="http://schemas.openxmlformats.org/drawingml/2006/main">
              <a:ext uri="{FF2B5EF4-FFF2-40B4-BE49-F238E27FC236}">
                <a16:creationId xmlns:a16="http://schemas.microsoft.com/office/drawing/2014/main" id="{59FF4BF8-85A9-4608-A006-2391DC0222F3}"/>
              </a:ext>
            </a:extLst>
          </p:cNvPr>
          <p:cNvSpPr>
            <a:spLocks xmlns:a="http://schemas.openxmlformats.org/drawingml/2006/main" noGrp="1"/>
          </p:cNvSpPr>
          <p:nvPr/>
        </p:nvSpPr>
        <p:spPr>
          <a:xfrm xmlns:a="http://schemas.openxmlformats.org/drawingml/2006/main">
            <a:off x="838200" y="9544050"/>
            <a:ext cx="1093470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26" name="footer-label">
            <a:extLst xmlns:a="http://schemas.openxmlformats.org/drawingml/2006/main">
              <a:ext uri="{FF2B5EF4-FFF2-40B4-BE49-F238E27FC236}">
                <a16:creationId xmlns:a16="http://schemas.microsoft.com/office/drawing/2014/main" id="{F64D91D2-C58A-4EFE-B017-5AF71A02CA66}"/>
              </a:ext>
            </a:extLst>
          </p:cNvPr>
          <p:cNvSpPr>
            <a:spLocks xmlns:a="http://schemas.openxmlformats.org/drawingml/2006/main" noGrp="1"/>
          </p:cNvSpPr>
          <p:nvPr/>
        </p:nvSpPr>
        <p:spPr>
          <a:xfrm xmlns:a="http://schemas.openxmlformats.org/drawingml/2006/main">
            <a:off x="11925300" y="9410700"/>
            <a:ext cx="5524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代表提交：refactor(backend): API + Service 层重构为 model-providers / provider-configs</a:t>
            </a:r>
          </a:p>
        </p:txBody>
      </p:sp>
    </p:spTree>
    <p:extLst>
      <p:ext uri="{BB962C8B-B14F-4D97-AF65-F5344CB8AC3E}">
        <p14:creationId xmlns:p14="http://schemas.microsoft.com/office/powerpoint/2010/main" val="2999838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D35E015A-EBCD-46A4-951A-A9099001C59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E1720"/>
          </a:solidFill>
          <a:ln xmlns:a="http://schemas.openxmlformats.org/drawingml/2006/main" w="0">
            <a:solidFill>
              <a:srgbClr val="0E1720"/>
            </a:solidFill>
            <a:prstDash val="solid"/>
          </a:ln>
        </p:spPr>
      </p:sp>
      <p:sp>
        <p:nvSpPr>
          <p:cNvPr id="2" name="kicker-rule">
            <a:extLst xmlns:a="http://schemas.openxmlformats.org/drawingml/2006/main">
              <a:ext uri="{FF2B5EF4-FFF2-40B4-BE49-F238E27FC236}">
                <a16:creationId xmlns:a16="http://schemas.microsoft.com/office/drawing/2014/main" id="{74F3E746-602D-4813-B607-AAA3B51F3682}"/>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3" name="kicker">
            <a:extLst xmlns:a="http://schemas.openxmlformats.org/drawingml/2006/main">
              <a:ext uri="{FF2B5EF4-FFF2-40B4-BE49-F238E27FC236}">
                <a16:creationId xmlns:a16="http://schemas.microsoft.com/office/drawing/2014/main" id="{C2E12C02-24EA-4481-B5BE-2EA6D640434C}"/>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A7BAC8"/>
                </a:solidFill>
                <a:latin typeface="PingFang SC"/>
                <a:ea typeface="PingFang SC"/>
                <a:cs typeface="PingFang SC"/>
              </a:defRPr>
            </a:pPr>
            <a:r>
              <a:rPr sz="1350" b="1">
                <a:solidFill>
                  <a:srgbClr val="A7BAC8"/>
                </a:solidFill>
                <a:latin typeface="PingFang SC"/>
                <a:ea typeface="PingFang SC"/>
                <a:cs typeface="PingFang SC"/>
              </a:rPr>
              <a:t>05 灾备</a:t>
            </a:r>
          </a:p>
        </p:txBody>
      </p:sp>
      <p:sp>
        <p:nvSpPr>
          <p:cNvPr id="4" name="slide-title">
            <a:extLst xmlns:a="http://schemas.openxmlformats.org/drawingml/2006/main">
              <a:ext uri="{FF2B5EF4-FFF2-40B4-BE49-F238E27FC236}">
                <a16:creationId xmlns:a16="http://schemas.microsoft.com/office/drawing/2014/main" id="{96838D50-B207-4747-A62F-C0DABE17D82A}"/>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FFFFFF"/>
                </a:solidFill>
                <a:latin typeface="PingFang SC"/>
                <a:ea typeface="PingFang SC"/>
                <a:cs typeface="PingFang SC"/>
              </a:defRPr>
            </a:pPr>
            <a:r>
              <a:rPr sz="3900" b="1">
                <a:solidFill>
                  <a:srgbClr val="FFFFFF"/>
                </a:solidFill>
                <a:latin typeface="PingFang SC"/>
                <a:ea typeface="PingFang SC"/>
                <a:cs typeface="PingFang SC"/>
              </a:rPr>
              <a:t>实例灾备上线：备份、恢复、克隆、重建闭环</a:t>
            </a:r>
          </a:p>
        </p:txBody>
      </p:sp>
      <p:sp>
        <p:nvSpPr>
          <p:cNvPr id="5" name="slide-subtitle">
            <a:extLst xmlns:a="http://schemas.openxmlformats.org/drawingml/2006/main">
              <a:ext uri="{FF2B5EF4-FFF2-40B4-BE49-F238E27FC236}">
                <a16:creationId xmlns:a16="http://schemas.microsoft.com/office/drawing/2014/main" id="{2605EC5E-B1BD-48AD-8BC7-C4CE21420867}"/>
              </a:ext>
            </a:extLst>
          </p:cNvPr>
          <p:cNvSpPr>
            <a:spLocks xmlns:a="http://schemas.openxmlformats.org/drawingml/2006/main" noGrp="1"/>
          </p:cNvSpPr>
          <p:nvPr/>
        </p:nvSpPr>
        <p:spPr>
          <a:xfrm xmlns:a="http://schemas.openxmlformats.org/drawingml/2006/main">
            <a:off x="838200" y="1619250"/>
            <a:ext cx="7334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C7D8E4"/>
                </a:solidFill>
                <a:latin typeface="PingFang SC"/>
                <a:ea typeface="PingFang SC"/>
                <a:cs typeface="PingFang SC"/>
              </a:defRPr>
            </a:pPr>
            <a:r>
              <a:rPr sz="1800">
                <a:solidFill>
                  <a:srgbClr val="C7D8E4"/>
                </a:solidFill>
                <a:latin typeface="PingFang SC"/>
                <a:ea typeface="PingFang SC"/>
                <a:cs typeface="PingFang SC"/>
              </a:rPr>
              <a:t>生产环境真正需要的是“坏了能回来、要复制能复制、资源丢了能重建”。</a:t>
            </a:r>
          </a:p>
        </p:txBody>
      </p:sp>
      <p:sp>
        <p:nvSpPr>
          <p:cNvPr id="6" name="dark-step-rule-Backup（备份）">
            <a:extLst xmlns:a="http://schemas.openxmlformats.org/drawingml/2006/main">
              <a:ext uri="{FF2B5EF4-FFF2-40B4-BE49-F238E27FC236}">
                <a16:creationId xmlns:a16="http://schemas.microsoft.com/office/drawing/2014/main" id="{71960C4D-64FA-4673-8ED2-A7EB584910F8}"/>
              </a:ext>
            </a:extLst>
          </p:cNvPr>
          <p:cNvSpPr>
            <a:spLocks xmlns:a="http://schemas.openxmlformats.org/drawingml/2006/main" noGrp="1"/>
          </p:cNvSpPr>
          <p:nvPr/>
        </p:nvSpPr>
        <p:spPr>
          <a:xfrm xmlns:a="http://schemas.openxmlformats.org/drawingml/2006/main">
            <a:off x="838200" y="2209800"/>
            <a:ext cx="104775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7" name="">
            <a:extLst xmlns:a="http://schemas.openxmlformats.org/drawingml/2006/main">
              <a:ext uri="{FF2B5EF4-FFF2-40B4-BE49-F238E27FC236}">
                <a16:creationId xmlns:a16="http://schemas.microsoft.com/office/drawing/2014/main" id="{07AE3980-239A-4E0E-A180-B46254972499}"/>
              </a:ext>
            </a:extLst>
          </p:cNvPr>
          <p:cNvSpPr>
            <a:spLocks xmlns:a="http://schemas.openxmlformats.org/drawingml/2006/main" noGrp="1"/>
          </p:cNvSpPr>
          <p:nvPr/>
        </p:nvSpPr>
        <p:spPr>
          <a:xfrm xmlns:a="http://schemas.openxmlformats.org/drawingml/2006/main">
            <a:off x="83820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FFFFFF"/>
                </a:solidFill>
                <a:latin typeface="PingFang SC"/>
                <a:ea typeface="PingFang SC"/>
                <a:cs typeface="PingFang SC"/>
              </a:defRPr>
            </a:pPr>
            <a:r>
              <a:rPr sz="2325" b="1">
                <a:solidFill>
                  <a:srgbClr val="FFFFFF"/>
                </a:solidFill>
                <a:latin typeface="PingFang SC"/>
                <a:ea typeface="PingFang SC"/>
                <a:cs typeface="PingFang SC"/>
              </a:rPr>
              <a:t>Backup（备份）</a:t>
            </a:r>
          </a:p>
        </p:txBody>
      </p:sp>
      <p:sp>
        <p:nvSpPr>
          <p:cNvPr id="8" name="">
            <a:extLst xmlns:a="http://schemas.openxmlformats.org/drawingml/2006/main">
              <a:ext uri="{FF2B5EF4-FFF2-40B4-BE49-F238E27FC236}">
                <a16:creationId xmlns:a16="http://schemas.microsoft.com/office/drawing/2014/main" id="{B1A1242C-55C7-447C-8907-592DF4526862}"/>
              </a:ext>
            </a:extLst>
          </p:cNvPr>
          <p:cNvSpPr>
            <a:spLocks xmlns:a="http://schemas.openxmlformats.org/drawingml/2006/main" noGrp="1"/>
          </p:cNvSpPr>
          <p:nvPr/>
        </p:nvSpPr>
        <p:spPr>
          <a:xfrm xmlns:a="http://schemas.openxmlformats.org/drawingml/2006/main">
            <a:off x="838200" y="2800350"/>
            <a:ext cx="39052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C7D8E4"/>
                </a:solidFill>
                <a:latin typeface="PingFang SC"/>
                <a:ea typeface="PingFang SC"/>
                <a:cs typeface="PingFang SC"/>
              </a:defRPr>
            </a:pPr>
            <a:r>
              <a:rPr sz="1575">
                <a:solidFill>
                  <a:srgbClr val="C7D8E4"/>
                </a:solidFill>
                <a:latin typeface="PingFang SC"/>
                <a:ea typeface="PingFang SC"/>
                <a:cs typeface="PingFang SC"/>
              </a:rPr>
              <a:t>Pod 内打包 RuntimeSpec.backup_dirs（运行时备份目录）并上传 S3（对象存储）。</a:t>
            </a:r>
          </a:p>
        </p:txBody>
      </p:sp>
      <p:sp>
        <p:nvSpPr>
          <p:cNvPr id="9" name="dark-step-rule-Restore（恢复）">
            <a:extLst xmlns:a="http://schemas.openxmlformats.org/drawingml/2006/main">
              <a:ext uri="{FF2B5EF4-FFF2-40B4-BE49-F238E27FC236}">
                <a16:creationId xmlns:a16="http://schemas.microsoft.com/office/drawing/2014/main" id="{9C9CD7D2-6815-412E-91E2-4D613E6323F1}"/>
              </a:ext>
            </a:extLst>
          </p:cNvPr>
          <p:cNvSpPr>
            <a:spLocks xmlns:a="http://schemas.openxmlformats.org/drawingml/2006/main" noGrp="1"/>
          </p:cNvSpPr>
          <p:nvPr/>
        </p:nvSpPr>
        <p:spPr>
          <a:xfrm xmlns:a="http://schemas.openxmlformats.org/drawingml/2006/main">
            <a:off x="5067300" y="2209800"/>
            <a:ext cx="1047750" cy="47625"/>
          </a:xfrm>
          <a:prstGeom xmlns:a="http://schemas.openxmlformats.org/drawingml/2006/main" prst="rect">
            <a:avLst/>
          </a:prstGeom>
          <a:solidFill xmlns:a="http://schemas.openxmlformats.org/drawingml/2006/main">
            <a:srgbClr val="52D1DC"/>
          </a:solidFill>
          <a:ln xmlns:a="http://schemas.openxmlformats.org/drawingml/2006/main" w="0">
            <a:solidFill>
              <a:srgbClr val="52D1DC"/>
            </a:solidFill>
            <a:prstDash val="solid"/>
          </a:ln>
        </p:spPr>
      </p:sp>
      <p:sp>
        <p:nvSpPr>
          <p:cNvPr id="10" name="">
            <a:extLst xmlns:a="http://schemas.openxmlformats.org/drawingml/2006/main">
              <a:ext uri="{FF2B5EF4-FFF2-40B4-BE49-F238E27FC236}">
                <a16:creationId xmlns:a16="http://schemas.microsoft.com/office/drawing/2014/main" id="{5CBFC56E-54DC-4F2B-9F1C-0CE11AC33083}"/>
              </a:ext>
            </a:extLst>
          </p:cNvPr>
          <p:cNvSpPr>
            <a:spLocks xmlns:a="http://schemas.openxmlformats.org/drawingml/2006/main" noGrp="1"/>
          </p:cNvSpPr>
          <p:nvPr/>
        </p:nvSpPr>
        <p:spPr>
          <a:xfrm xmlns:a="http://schemas.openxmlformats.org/drawingml/2006/main">
            <a:off x="506730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FFFFFF"/>
                </a:solidFill>
                <a:latin typeface="PingFang SC"/>
                <a:ea typeface="PingFang SC"/>
                <a:cs typeface="PingFang SC"/>
              </a:defRPr>
            </a:pPr>
            <a:r>
              <a:rPr sz="2325" b="1">
                <a:solidFill>
                  <a:srgbClr val="FFFFFF"/>
                </a:solidFill>
                <a:latin typeface="PingFang SC"/>
                <a:ea typeface="PingFang SC"/>
                <a:cs typeface="PingFang SC"/>
              </a:rPr>
              <a:t>Restore（恢复）</a:t>
            </a:r>
          </a:p>
        </p:txBody>
      </p:sp>
      <p:sp>
        <p:nvSpPr>
          <p:cNvPr id="11" name="">
            <a:extLst xmlns:a="http://schemas.openxmlformats.org/drawingml/2006/main">
              <a:ext uri="{FF2B5EF4-FFF2-40B4-BE49-F238E27FC236}">
                <a16:creationId xmlns:a16="http://schemas.microsoft.com/office/drawing/2014/main" id="{8EA760D8-0900-47AC-A7AB-31AF5E944ED0}"/>
              </a:ext>
            </a:extLst>
          </p:cNvPr>
          <p:cNvSpPr>
            <a:spLocks xmlns:a="http://schemas.openxmlformats.org/drawingml/2006/main" noGrp="1"/>
          </p:cNvSpPr>
          <p:nvPr/>
        </p:nvSpPr>
        <p:spPr>
          <a:xfrm xmlns:a="http://schemas.openxmlformats.org/drawingml/2006/main">
            <a:off x="5067300" y="2800350"/>
            <a:ext cx="3905250" cy="476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C7D8E4"/>
                </a:solidFill>
                <a:latin typeface="PingFang SC"/>
                <a:ea typeface="PingFang SC"/>
                <a:cs typeface="PingFang SC"/>
              </a:defRPr>
            </a:pPr>
            <a:r>
              <a:rPr sz="1575">
                <a:solidFill>
                  <a:srgbClr val="C7D8E4"/>
                </a:solidFill>
                <a:latin typeface="PingFang SC"/>
                <a:ea typeface="PingFang SC"/>
                <a:cs typeface="PingFang SC"/>
              </a:rPr>
              <a:t>从备份覆盖原实例数据，并复用部署进度 SSE（服务端推送）。</a:t>
            </a:r>
          </a:p>
        </p:txBody>
      </p:sp>
      <p:sp>
        <p:nvSpPr>
          <p:cNvPr id="12" name="dark-step-rule-Clone（克隆）">
            <a:extLst xmlns:a="http://schemas.openxmlformats.org/drawingml/2006/main">
              <a:ext uri="{FF2B5EF4-FFF2-40B4-BE49-F238E27FC236}">
                <a16:creationId xmlns:a16="http://schemas.microsoft.com/office/drawing/2014/main" id="{6E7C545A-DA22-4D5B-99B8-9AA805DCB1F5}"/>
              </a:ext>
            </a:extLst>
          </p:cNvPr>
          <p:cNvSpPr>
            <a:spLocks xmlns:a="http://schemas.openxmlformats.org/drawingml/2006/main" noGrp="1"/>
          </p:cNvSpPr>
          <p:nvPr/>
        </p:nvSpPr>
        <p:spPr>
          <a:xfrm xmlns:a="http://schemas.openxmlformats.org/drawingml/2006/main">
            <a:off x="9315450" y="2209800"/>
            <a:ext cx="1047750" cy="47625"/>
          </a:xfrm>
          <a:prstGeom xmlns:a="http://schemas.openxmlformats.org/drawingml/2006/main" prst="rect">
            <a:avLst/>
          </a:prstGeom>
          <a:solidFill xmlns:a="http://schemas.openxmlformats.org/drawingml/2006/main">
            <a:srgbClr val="F6C85F"/>
          </a:solidFill>
          <a:ln xmlns:a="http://schemas.openxmlformats.org/drawingml/2006/main" w="0">
            <a:solidFill>
              <a:srgbClr val="F6C85F"/>
            </a:solidFill>
            <a:prstDash val="solid"/>
          </a:ln>
        </p:spPr>
      </p:sp>
      <p:sp>
        <p:nvSpPr>
          <p:cNvPr id="13" name="">
            <a:extLst xmlns:a="http://schemas.openxmlformats.org/drawingml/2006/main">
              <a:ext uri="{FF2B5EF4-FFF2-40B4-BE49-F238E27FC236}">
                <a16:creationId xmlns:a16="http://schemas.microsoft.com/office/drawing/2014/main" id="{5AE83A39-A761-4D35-83E0-812E3F6838D1}"/>
              </a:ext>
            </a:extLst>
          </p:cNvPr>
          <p:cNvSpPr>
            <a:spLocks xmlns:a="http://schemas.openxmlformats.org/drawingml/2006/main" noGrp="1"/>
          </p:cNvSpPr>
          <p:nvPr/>
        </p:nvSpPr>
        <p:spPr>
          <a:xfrm xmlns:a="http://schemas.openxmlformats.org/drawingml/2006/main">
            <a:off x="931545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FFFFFF"/>
                </a:solidFill>
                <a:latin typeface="PingFang SC"/>
                <a:ea typeface="PingFang SC"/>
                <a:cs typeface="PingFang SC"/>
              </a:defRPr>
            </a:pPr>
            <a:r>
              <a:rPr sz="2325" b="1">
                <a:solidFill>
                  <a:srgbClr val="FFFFFF"/>
                </a:solidFill>
                <a:latin typeface="PingFang SC"/>
                <a:ea typeface="PingFang SC"/>
                <a:cs typeface="PingFang SC"/>
              </a:rPr>
              <a:t>Clone（克隆）</a:t>
            </a:r>
          </a:p>
        </p:txBody>
      </p:sp>
      <p:sp>
        <p:nvSpPr>
          <p:cNvPr id="14" name="">
            <a:extLst xmlns:a="http://schemas.openxmlformats.org/drawingml/2006/main">
              <a:ext uri="{FF2B5EF4-FFF2-40B4-BE49-F238E27FC236}">
                <a16:creationId xmlns:a16="http://schemas.microsoft.com/office/drawing/2014/main" id="{A1ED4958-323D-42D5-9F5F-6A167877C5CF}"/>
              </a:ext>
            </a:extLst>
          </p:cNvPr>
          <p:cNvSpPr>
            <a:spLocks xmlns:a="http://schemas.openxmlformats.org/drawingml/2006/main" noGrp="1"/>
          </p:cNvSpPr>
          <p:nvPr/>
        </p:nvSpPr>
        <p:spPr>
          <a:xfrm xmlns:a="http://schemas.openxmlformats.org/drawingml/2006/main">
            <a:off x="9315450" y="2800350"/>
            <a:ext cx="3905250" cy="476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C7D8E4"/>
                </a:solidFill>
                <a:latin typeface="PingFang SC"/>
                <a:ea typeface="PingFang SC"/>
                <a:cs typeface="PingFang SC"/>
              </a:defRPr>
            </a:pPr>
            <a:r>
              <a:rPr sz="1575">
                <a:solidFill>
                  <a:srgbClr val="C7D8E4"/>
                </a:solidFill>
                <a:latin typeface="PingFang SC"/>
                <a:ea typeface="PingFang SC"/>
                <a:cs typeface="PingFang SC"/>
              </a:rPr>
              <a:t>备份 → 新实例部署 → 数据恢复，形成可复制办公室资产。</a:t>
            </a:r>
          </a:p>
        </p:txBody>
      </p:sp>
      <p:sp>
        <p:nvSpPr>
          <p:cNvPr id="15" name="dark-step-rule-Rebuild（重建）">
            <a:extLst xmlns:a="http://schemas.openxmlformats.org/drawingml/2006/main">
              <a:ext uri="{FF2B5EF4-FFF2-40B4-BE49-F238E27FC236}">
                <a16:creationId xmlns:a16="http://schemas.microsoft.com/office/drawing/2014/main" id="{EC715F83-9B03-491D-89AF-ED5F66BEC7EC}"/>
              </a:ext>
            </a:extLst>
          </p:cNvPr>
          <p:cNvSpPr>
            <a:spLocks xmlns:a="http://schemas.openxmlformats.org/drawingml/2006/main" noGrp="1"/>
          </p:cNvSpPr>
          <p:nvPr/>
        </p:nvSpPr>
        <p:spPr>
          <a:xfrm xmlns:a="http://schemas.openxmlformats.org/drawingml/2006/main">
            <a:off x="13544550" y="2209800"/>
            <a:ext cx="1047750" cy="47625"/>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prstDash val="solid"/>
          </a:ln>
        </p:spPr>
      </p:sp>
      <p:sp>
        <p:nvSpPr>
          <p:cNvPr id="16" name="">
            <a:extLst xmlns:a="http://schemas.openxmlformats.org/drawingml/2006/main">
              <a:ext uri="{FF2B5EF4-FFF2-40B4-BE49-F238E27FC236}">
                <a16:creationId xmlns:a16="http://schemas.microsoft.com/office/drawing/2014/main" id="{59F30D72-4231-4D72-8740-4DA9ED98B41D}"/>
              </a:ext>
            </a:extLst>
          </p:cNvPr>
          <p:cNvSpPr>
            <a:spLocks xmlns:a="http://schemas.openxmlformats.org/drawingml/2006/main" noGrp="1"/>
          </p:cNvSpPr>
          <p:nvPr/>
        </p:nvSpPr>
        <p:spPr>
          <a:xfrm xmlns:a="http://schemas.openxmlformats.org/drawingml/2006/main">
            <a:off x="13544550" y="2362200"/>
            <a:ext cx="390525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FFFFFF"/>
                </a:solidFill>
                <a:latin typeface="PingFang SC"/>
                <a:ea typeface="PingFang SC"/>
                <a:cs typeface="PingFang SC"/>
              </a:defRPr>
            </a:pPr>
            <a:r>
              <a:rPr sz="2325" b="1">
                <a:solidFill>
                  <a:srgbClr val="FFFFFF"/>
                </a:solidFill>
                <a:latin typeface="PingFang SC"/>
                <a:ea typeface="PingFang SC"/>
                <a:cs typeface="PingFang SC"/>
              </a:rPr>
              <a:t>Rebuild（重建）</a:t>
            </a:r>
          </a:p>
        </p:txBody>
      </p:sp>
      <p:sp>
        <p:nvSpPr>
          <p:cNvPr id="17" name="">
            <a:extLst xmlns:a="http://schemas.openxmlformats.org/drawingml/2006/main">
              <a:ext uri="{FF2B5EF4-FFF2-40B4-BE49-F238E27FC236}">
                <a16:creationId xmlns:a16="http://schemas.microsoft.com/office/drawing/2014/main" id="{42DC5A8D-751E-4320-A4DC-E818BF9090B7}"/>
              </a:ext>
            </a:extLst>
          </p:cNvPr>
          <p:cNvSpPr>
            <a:spLocks xmlns:a="http://schemas.openxmlformats.org/drawingml/2006/main" noGrp="1"/>
          </p:cNvSpPr>
          <p:nvPr/>
        </p:nvSpPr>
        <p:spPr>
          <a:xfrm xmlns:a="http://schemas.openxmlformats.org/drawingml/2006/main">
            <a:off x="13544550" y="2800350"/>
            <a:ext cx="39052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C7D8E4"/>
                </a:solidFill>
                <a:latin typeface="PingFang SC"/>
                <a:ea typeface="PingFang SC"/>
                <a:cs typeface="PingFang SC"/>
              </a:defRPr>
            </a:pPr>
            <a:r>
              <a:rPr sz="1575">
                <a:solidFill>
                  <a:srgbClr val="C7D8E4"/>
                </a:solidFill>
                <a:latin typeface="PingFang SC"/>
                <a:ea typeface="PingFang SC"/>
                <a:cs typeface="PingFang SC"/>
              </a:rPr>
              <a:t>DB（数据库）记录仍在时，重建 Namespace/PVC/Deployment/Service/Ingress/NetworkPolicy。</a:t>
            </a:r>
          </a:p>
        </p:txBody>
      </p:sp>
      <p:sp>
        <p:nvSpPr>
          <p:cNvPr id="18" name="pill-Portal（用户门户）">
            <a:extLst xmlns:a="http://schemas.openxmlformats.org/drawingml/2006/main">
              <a:ext uri="{FF2B5EF4-FFF2-40B4-BE49-F238E27FC236}">
                <a16:creationId xmlns:a16="http://schemas.microsoft.com/office/drawing/2014/main" id="{26CACA30-CE4E-44DD-8C8B-96C1EC996BE3}"/>
              </a:ext>
            </a:extLst>
          </p:cNvPr>
          <p:cNvSpPr>
            <a:spLocks xmlns:a="http://schemas.openxmlformats.org/drawingml/2006/main" noGrp="1"/>
          </p:cNvSpPr>
          <p:nvPr/>
        </p:nvSpPr>
        <p:spPr>
          <a:xfrm xmlns:a="http://schemas.openxmlformats.org/drawingml/2006/main">
            <a:off x="838200" y="8896350"/>
            <a:ext cx="3238500" cy="323850"/>
          </a:xfrm>
          <a:prstGeom xmlns:a="http://schemas.openxmlformats.org/drawingml/2006/main" prst="roundRect">
            <a:avLst>
              <a:gd name="adj" fmla="val 50000"/>
            </a:avLst>
          </a:prstGeom>
          <a:solidFill xmlns:a="http://schemas.openxmlformats.org/drawingml/2006/main">
            <a:srgbClr val="8AE6B0">
              <a:alpha val="10196"/>
            </a:srgbClr>
          </a:solidFill>
          <a:ln xmlns:a="http://schemas.openxmlformats.org/drawingml/2006/main" w="9525">
            <a:solidFill>
              <a:srgbClr val="D7DEE7"/>
            </a:solidFill>
            <a:prstDash val="solid"/>
          </a:ln>
        </p:spPr>
      </p:sp>
      <p:sp>
        <p:nvSpPr>
          <p:cNvPr id="19" name="">
            <a:extLst xmlns:a="http://schemas.openxmlformats.org/drawingml/2006/main">
              <a:ext uri="{FF2B5EF4-FFF2-40B4-BE49-F238E27FC236}">
                <a16:creationId xmlns:a16="http://schemas.microsoft.com/office/drawing/2014/main" id="{0CC6E63E-4170-4796-8231-987ED2753D22}"/>
              </a:ext>
            </a:extLst>
          </p:cNvPr>
          <p:cNvSpPr>
            <a:spLocks xmlns:a="http://schemas.openxmlformats.org/drawingml/2006/main" noGrp="1"/>
          </p:cNvSpPr>
          <p:nvPr/>
        </p:nvSpPr>
        <p:spPr>
          <a:xfrm xmlns:a="http://schemas.openxmlformats.org/drawingml/2006/main">
            <a:off x="1009650" y="89725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8AE6B0"/>
                </a:solidFill>
                <a:latin typeface="PingFang SC"/>
                <a:ea typeface="PingFang SC"/>
                <a:cs typeface="PingFang SC"/>
              </a:defRPr>
            </a:pPr>
            <a:r>
              <a:rPr sz="1350" b="1">
                <a:solidFill>
                  <a:srgbClr val="8AE6B0"/>
                </a:solidFill>
                <a:latin typeface="PingFang SC"/>
                <a:ea typeface="PingFang SC"/>
                <a:cs typeface="PingFang SC"/>
              </a:rPr>
              <a:t>Portal（用户门户）</a:t>
            </a:r>
          </a:p>
        </p:txBody>
      </p:sp>
      <p:sp>
        <p:nvSpPr>
          <p:cNvPr id="20" name="pill-Admin（管理后台）">
            <a:extLst xmlns:a="http://schemas.openxmlformats.org/drawingml/2006/main">
              <a:ext uri="{FF2B5EF4-FFF2-40B4-BE49-F238E27FC236}">
                <a16:creationId xmlns:a16="http://schemas.microsoft.com/office/drawing/2014/main" id="{2641E94F-F5C3-4E57-B210-92934F056DD8}"/>
              </a:ext>
            </a:extLst>
          </p:cNvPr>
          <p:cNvSpPr>
            <a:spLocks xmlns:a="http://schemas.openxmlformats.org/drawingml/2006/main" noGrp="1"/>
          </p:cNvSpPr>
          <p:nvPr/>
        </p:nvSpPr>
        <p:spPr>
          <a:xfrm xmlns:a="http://schemas.openxmlformats.org/drawingml/2006/main">
            <a:off x="4210050" y="8896350"/>
            <a:ext cx="3238500" cy="323850"/>
          </a:xfrm>
          <a:prstGeom xmlns:a="http://schemas.openxmlformats.org/drawingml/2006/main" prst="roundRect">
            <a:avLst>
              <a:gd name="adj" fmla="val 50000"/>
            </a:avLst>
          </a:prstGeom>
          <a:solidFill xmlns:a="http://schemas.openxmlformats.org/drawingml/2006/main">
            <a:srgbClr val="52D1DC">
              <a:alpha val="10196"/>
            </a:srgbClr>
          </a:solidFill>
          <a:ln xmlns:a="http://schemas.openxmlformats.org/drawingml/2006/main" w="9525">
            <a:solidFill>
              <a:srgbClr val="D7DEE7"/>
            </a:solidFill>
            <a:prstDash val="solid"/>
          </a:ln>
        </p:spPr>
      </p:sp>
      <p:sp>
        <p:nvSpPr>
          <p:cNvPr id="21" name="">
            <a:extLst xmlns:a="http://schemas.openxmlformats.org/drawingml/2006/main">
              <a:ext uri="{FF2B5EF4-FFF2-40B4-BE49-F238E27FC236}">
                <a16:creationId xmlns:a16="http://schemas.microsoft.com/office/drawing/2014/main" id="{2D20AE1D-4BC4-4739-9D8F-E0996AC98ED6}"/>
              </a:ext>
            </a:extLst>
          </p:cNvPr>
          <p:cNvSpPr>
            <a:spLocks xmlns:a="http://schemas.openxmlformats.org/drawingml/2006/main" noGrp="1"/>
          </p:cNvSpPr>
          <p:nvPr/>
        </p:nvSpPr>
        <p:spPr>
          <a:xfrm xmlns:a="http://schemas.openxmlformats.org/drawingml/2006/main">
            <a:off x="4381500" y="89725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52D1DC"/>
                </a:solidFill>
                <a:latin typeface="PingFang SC"/>
                <a:ea typeface="PingFang SC"/>
                <a:cs typeface="PingFang SC"/>
              </a:defRPr>
            </a:pPr>
            <a:r>
              <a:rPr sz="1350" b="1">
                <a:solidFill>
                  <a:srgbClr val="52D1DC"/>
                </a:solidFill>
                <a:latin typeface="PingFang SC"/>
                <a:ea typeface="PingFang SC"/>
                <a:cs typeface="PingFang SC"/>
              </a:rPr>
              <a:t>Admin（管理后台）</a:t>
            </a:r>
          </a:p>
        </p:txBody>
      </p:sp>
      <p:sp>
        <p:nvSpPr>
          <p:cNvPr id="22" name="pill-操作审计 Hook（钩子）">
            <a:extLst xmlns:a="http://schemas.openxmlformats.org/drawingml/2006/main">
              <a:ext uri="{FF2B5EF4-FFF2-40B4-BE49-F238E27FC236}">
                <a16:creationId xmlns:a16="http://schemas.microsoft.com/office/drawing/2014/main" id="{D05D739A-804D-4902-9CA4-37347A9E4AF3}"/>
              </a:ext>
            </a:extLst>
          </p:cNvPr>
          <p:cNvSpPr>
            <a:spLocks xmlns:a="http://schemas.openxmlformats.org/drawingml/2006/main" noGrp="1"/>
          </p:cNvSpPr>
          <p:nvPr/>
        </p:nvSpPr>
        <p:spPr>
          <a:xfrm xmlns:a="http://schemas.openxmlformats.org/drawingml/2006/main">
            <a:off x="7581900" y="8896350"/>
            <a:ext cx="3238500" cy="323850"/>
          </a:xfrm>
          <a:prstGeom xmlns:a="http://schemas.openxmlformats.org/drawingml/2006/main" prst="roundRect">
            <a:avLst>
              <a:gd name="adj" fmla="val 50000"/>
            </a:avLst>
          </a:prstGeom>
          <a:solidFill xmlns:a="http://schemas.openxmlformats.org/drawingml/2006/main">
            <a:srgbClr val="F6C85F">
              <a:alpha val="10196"/>
            </a:srgbClr>
          </a:solidFill>
          <a:ln xmlns:a="http://schemas.openxmlformats.org/drawingml/2006/main" w="9525">
            <a:solidFill>
              <a:srgbClr val="D7DEE7"/>
            </a:solidFill>
            <a:prstDash val="solid"/>
          </a:ln>
        </p:spPr>
      </p:sp>
      <p:sp>
        <p:nvSpPr>
          <p:cNvPr id="23" name="">
            <a:extLst xmlns:a="http://schemas.openxmlformats.org/drawingml/2006/main">
              <a:ext uri="{FF2B5EF4-FFF2-40B4-BE49-F238E27FC236}">
                <a16:creationId xmlns:a16="http://schemas.microsoft.com/office/drawing/2014/main" id="{463CE1EA-0535-4A6F-9C1B-48E16D807339}"/>
              </a:ext>
            </a:extLst>
          </p:cNvPr>
          <p:cNvSpPr>
            <a:spLocks xmlns:a="http://schemas.openxmlformats.org/drawingml/2006/main" noGrp="1"/>
          </p:cNvSpPr>
          <p:nvPr/>
        </p:nvSpPr>
        <p:spPr>
          <a:xfrm xmlns:a="http://schemas.openxmlformats.org/drawingml/2006/main">
            <a:off x="7753350" y="89725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F6C85F"/>
                </a:solidFill>
                <a:latin typeface="PingFang SC"/>
                <a:ea typeface="PingFang SC"/>
                <a:cs typeface="PingFang SC"/>
              </a:defRPr>
            </a:pPr>
            <a:r>
              <a:rPr sz="1350" b="1">
                <a:solidFill>
                  <a:srgbClr val="F6C85F"/>
                </a:solidFill>
                <a:latin typeface="PingFang SC"/>
                <a:ea typeface="PingFang SC"/>
                <a:cs typeface="PingFang SC"/>
              </a:rPr>
              <a:t>操作审计 Hook（钩子）</a:t>
            </a:r>
          </a:p>
        </p:txBody>
      </p:sp>
      <p:sp>
        <p:nvSpPr>
          <p:cNvPr id="24" name="footer-rule">
            <a:extLst xmlns:a="http://schemas.openxmlformats.org/drawingml/2006/main">
              <a:ext uri="{FF2B5EF4-FFF2-40B4-BE49-F238E27FC236}">
                <a16:creationId xmlns:a16="http://schemas.microsoft.com/office/drawing/2014/main" id="{18E7EBCB-11E7-4F41-A28C-572CC529BB93}"/>
              </a:ext>
            </a:extLst>
          </p:cNvPr>
          <p:cNvSpPr>
            <a:spLocks xmlns:a="http://schemas.openxmlformats.org/drawingml/2006/main" noGrp="1"/>
          </p:cNvSpPr>
          <p:nvPr/>
        </p:nvSpPr>
        <p:spPr>
          <a:xfrm xmlns:a="http://schemas.openxmlformats.org/drawingml/2006/main">
            <a:off x="838200" y="9601200"/>
            <a:ext cx="1190625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25" name="footer-label">
            <a:extLst xmlns:a="http://schemas.openxmlformats.org/drawingml/2006/main">
              <a:ext uri="{FF2B5EF4-FFF2-40B4-BE49-F238E27FC236}">
                <a16:creationId xmlns:a16="http://schemas.microsoft.com/office/drawing/2014/main" id="{9A793B39-EB9F-4BD3-93C3-34F640DE5ED1}"/>
              </a:ext>
            </a:extLst>
          </p:cNvPr>
          <p:cNvSpPr>
            <a:spLocks xmlns:a="http://schemas.openxmlformats.org/drawingml/2006/main" noGrp="1"/>
          </p:cNvSpPr>
          <p:nvPr/>
        </p:nvSpPr>
        <p:spPr>
          <a:xfrm xmlns:a="http://schemas.openxmlformats.org/drawingml/2006/main">
            <a:off x="12896850" y="9544050"/>
            <a:ext cx="455295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代表提交：feat(backend): 新建 backup_service — 备份/恢复/克隆核心逻辑</a:t>
            </a:r>
          </a:p>
        </p:txBody>
      </p:sp>
    </p:spTree>
    <p:extLst>
      <p:ext uri="{BB962C8B-B14F-4D97-AF65-F5344CB8AC3E}">
        <p14:creationId xmlns:p14="http://schemas.microsoft.com/office/powerpoint/2010/main" val="9614842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FDDD5CD3-661A-4BF7-A9A6-4576F37C506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7F9F6"/>
          </a:solidFill>
          <a:ln xmlns:a="http://schemas.openxmlformats.org/drawingml/2006/main" w="0">
            <a:solidFill>
              <a:srgbClr val="F7F9F6"/>
            </a:solidFill>
            <a:prstDash val="solid"/>
          </a:ln>
        </p:spPr>
      </p:sp>
      <p:sp>
        <p:nvSpPr>
          <p:cNvPr id="2" name="kicker-rule">
            <a:extLst xmlns:a="http://schemas.openxmlformats.org/drawingml/2006/main">
              <a:ext uri="{FF2B5EF4-FFF2-40B4-BE49-F238E27FC236}">
                <a16:creationId xmlns:a16="http://schemas.microsoft.com/office/drawing/2014/main" id="{F9BDB67A-3C9A-4285-A4FE-8CC5F2E6CED5}"/>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3" name="kicker">
            <a:extLst xmlns:a="http://schemas.openxmlformats.org/drawingml/2006/main">
              <a:ext uri="{FF2B5EF4-FFF2-40B4-BE49-F238E27FC236}">
                <a16:creationId xmlns:a16="http://schemas.microsoft.com/office/drawing/2014/main" id="{FB19C303-9BEF-4AA7-924C-B27B87AFD627}"/>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5B6875"/>
                </a:solidFill>
                <a:latin typeface="PingFang SC"/>
                <a:ea typeface="PingFang SC"/>
                <a:cs typeface="PingFang SC"/>
              </a:defRPr>
            </a:pPr>
            <a:r>
              <a:rPr sz="1350" b="1">
                <a:solidFill>
                  <a:srgbClr val="5B6875"/>
                </a:solidFill>
                <a:latin typeface="PingFang SC"/>
                <a:ea typeface="PingFang SC"/>
                <a:cs typeface="PingFang SC"/>
              </a:rPr>
              <a:t>06 任务与绩效</a:t>
            </a:r>
          </a:p>
        </p:txBody>
      </p:sp>
      <p:sp>
        <p:nvSpPr>
          <p:cNvPr id="4" name="slide-title">
            <a:extLst xmlns:a="http://schemas.openxmlformats.org/drawingml/2006/main">
              <a:ext uri="{FF2B5EF4-FFF2-40B4-BE49-F238E27FC236}">
                <a16:creationId xmlns:a16="http://schemas.microsoft.com/office/drawing/2014/main" id="{744D8A3C-2ACE-47E1-AB46-8D0F184CB254}"/>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16212D"/>
                </a:solidFill>
                <a:latin typeface="PingFang SC"/>
                <a:ea typeface="PingFang SC"/>
                <a:cs typeface="PingFang SC"/>
              </a:defRPr>
            </a:pPr>
            <a:r>
              <a:rPr sz="3900" b="1">
                <a:solidFill>
                  <a:srgbClr val="16212D"/>
                </a:solidFill>
                <a:latin typeface="PingFang SC"/>
                <a:ea typeface="PingFang SC"/>
                <a:cs typeface="PingFang SC"/>
              </a:rPr>
              <a:t>任务与绩效体系更像“AI 员工管理”了</a:t>
            </a:r>
          </a:p>
        </p:txBody>
      </p:sp>
      <p:sp>
        <p:nvSpPr>
          <p:cNvPr id="5" name="slide-subtitle">
            <a:extLst xmlns:a="http://schemas.openxmlformats.org/drawingml/2006/main">
              <a:ext uri="{FF2B5EF4-FFF2-40B4-BE49-F238E27FC236}">
                <a16:creationId xmlns:a16="http://schemas.microsoft.com/office/drawing/2014/main" id="{66DD19D6-BDF8-4668-AD2E-03EF39BA171D}"/>
              </a:ext>
            </a:extLst>
          </p:cNvPr>
          <p:cNvSpPr>
            <a:spLocks xmlns:a="http://schemas.openxmlformats.org/drawingml/2006/main" noGrp="1"/>
          </p:cNvSpPr>
          <p:nvPr/>
        </p:nvSpPr>
        <p:spPr>
          <a:xfrm xmlns:a="http://schemas.openxmlformats.org/drawingml/2006/main">
            <a:off x="838200" y="1619250"/>
            <a:ext cx="102489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5B6875"/>
                </a:solidFill>
                <a:latin typeface="PingFang SC"/>
                <a:ea typeface="PingFang SC"/>
                <a:cs typeface="PingFang SC"/>
              </a:defRPr>
            </a:pPr>
            <a:r>
              <a:rPr sz="1800">
                <a:solidFill>
                  <a:srgbClr val="5B6875"/>
                </a:solidFill>
                <a:latin typeface="PingFang SC"/>
                <a:ea typeface="PingFang SC"/>
                <a:cs typeface="PingFang SC"/>
              </a:rPr>
              <a:t>四月开始把任务结果、失败原因、Token（令牌）成本和 ROI（投入产出比）放到同一张运营视图里。</a:t>
            </a:r>
          </a:p>
        </p:txBody>
      </p:sp>
      <p:sp>
        <p:nvSpPr>
          <p:cNvPr id="6" name="">
            <a:extLst xmlns:a="http://schemas.openxmlformats.org/drawingml/2006/main">
              <a:ext uri="{FF2B5EF4-FFF2-40B4-BE49-F238E27FC236}">
                <a16:creationId xmlns:a16="http://schemas.microsoft.com/office/drawing/2014/main" id="{B48E3F49-5E87-413A-890B-D2870A773F94}"/>
              </a:ext>
            </a:extLst>
          </p:cNvPr>
          <p:cNvSpPr>
            <a:spLocks xmlns:a="http://schemas.openxmlformats.org/drawingml/2006/main" noGrp="1"/>
          </p:cNvSpPr>
          <p:nvPr/>
        </p:nvSpPr>
        <p:spPr>
          <a:xfrm xmlns:a="http://schemas.openxmlformats.org/drawingml/2006/main">
            <a:off x="838200" y="4152900"/>
            <a:ext cx="672465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4200" b="1">
                <a:solidFill>
                  <a:srgbClr val="FF6B6B"/>
                </a:solidFill>
                <a:latin typeface="Aptos"/>
                <a:ea typeface="Aptos"/>
                <a:cs typeface="Aptos"/>
              </a:defRPr>
            </a:pPr>
            <a:r>
              <a:rPr sz="4200" b="1">
                <a:solidFill>
                  <a:srgbClr val="FF6B6B"/>
                </a:solidFill>
                <a:latin typeface="Aptos"/>
                <a:ea typeface="Aptos"/>
                <a:cs typeface="Aptos"/>
              </a:rPr>
              <a:t>failed</a:t>
            </a:r>
          </a:p>
        </p:txBody>
      </p:sp>
      <p:sp>
        <p:nvSpPr>
          <p:cNvPr id="7" name="">
            <a:extLst xmlns:a="http://schemas.openxmlformats.org/drawingml/2006/main">
              <a:ext uri="{FF2B5EF4-FFF2-40B4-BE49-F238E27FC236}">
                <a16:creationId xmlns:a16="http://schemas.microsoft.com/office/drawing/2014/main" id="{30D725B4-5A5F-4DF5-8B50-FEAA275C000E}"/>
              </a:ext>
            </a:extLst>
          </p:cNvPr>
          <p:cNvSpPr>
            <a:spLocks xmlns:a="http://schemas.openxmlformats.org/drawingml/2006/main" noGrp="1"/>
          </p:cNvSpPr>
          <p:nvPr/>
        </p:nvSpPr>
        <p:spPr>
          <a:xfrm xmlns:a="http://schemas.openxmlformats.org/drawingml/2006/main">
            <a:off x="838200" y="4800600"/>
            <a:ext cx="67246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C8D4DD"/>
                </a:solidFill>
                <a:latin typeface="PingFang SC"/>
                <a:ea typeface="PingFang SC"/>
                <a:cs typeface="PingFang SC"/>
              </a:defRPr>
            </a:pPr>
            <a:r>
              <a:rPr sz="1350">
                <a:solidFill>
                  <a:srgbClr val="C8D4DD"/>
                </a:solidFill>
                <a:latin typeface="PingFang SC"/>
                <a:ea typeface="PingFang SC"/>
                <a:cs typeface="PingFang SC"/>
              </a:rPr>
              <a:t>任务新增失败状态</a:t>
            </a:r>
          </a:p>
        </p:txBody>
      </p:sp>
      <p:sp>
        <p:nvSpPr>
          <p:cNvPr id="8" name="">
            <a:extLst xmlns:a="http://schemas.openxmlformats.org/drawingml/2006/main">
              <a:ext uri="{FF2B5EF4-FFF2-40B4-BE49-F238E27FC236}">
                <a16:creationId xmlns:a16="http://schemas.microsoft.com/office/drawing/2014/main" id="{6776CEA4-3FB1-482C-9DCC-75D71C56F334}"/>
              </a:ext>
            </a:extLst>
          </p:cNvPr>
          <p:cNvSpPr>
            <a:spLocks xmlns:a="http://schemas.openxmlformats.org/drawingml/2006/main" noGrp="1"/>
          </p:cNvSpPr>
          <p:nvPr/>
        </p:nvSpPr>
        <p:spPr>
          <a:xfrm xmlns:a="http://schemas.openxmlformats.org/drawingml/2006/main">
            <a:off x="838200" y="5257800"/>
            <a:ext cx="672465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4200" b="1">
                <a:solidFill>
                  <a:srgbClr val="F6C85F"/>
                </a:solidFill>
                <a:latin typeface="Aptos"/>
                <a:ea typeface="Aptos"/>
                <a:cs typeface="Aptos"/>
              </a:defRPr>
            </a:pPr>
            <a:r>
              <a:rPr sz="4200" b="1">
                <a:solidFill>
                  <a:srgbClr val="F6C85F"/>
                </a:solidFill>
                <a:latin typeface="Aptos"/>
                <a:ea typeface="Aptos"/>
                <a:cs typeface="Aptos"/>
              </a:rPr>
              <a:t>3+</a:t>
            </a:r>
          </a:p>
        </p:txBody>
      </p:sp>
      <p:sp>
        <p:nvSpPr>
          <p:cNvPr id="9" name="">
            <a:extLst xmlns:a="http://schemas.openxmlformats.org/drawingml/2006/main">
              <a:ext uri="{FF2B5EF4-FFF2-40B4-BE49-F238E27FC236}">
                <a16:creationId xmlns:a16="http://schemas.microsoft.com/office/drawing/2014/main" id="{BFBC49E5-205D-4EB1-A1B2-90CA6606996C}"/>
              </a:ext>
            </a:extLst>
          </p:cNvPr>
          <p:cNvSpPr>
            <a:spLocks xmlns:a="http://schemas.openxmlformats.org/drawingml/2006/main" noGrp="1"/>
          </p:cNvSpPr>
          <p:nvPr/>
        </p:nvSpPr>
        <p:spPr>
          <a:xfrm xmlns:a="http://schemas.openxmlformats.org/drawingml/2006/main">
            <a:off x="838200" y="5886450"/>
            <a:ext cx="67246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C8D4DD"/>
                </a:solidFill>
                <a:latin typeface="PingFang SC"/>
                <a:ea typeface="PingFang SC"/>
                <a:cs typeface="PingFang SC"/>
              </a:defRPr>
            </a:pPr>
            <a:r>
              <a:rPr sz="1350">
                <a:solidFill>
                  <a:srgbClr val="C8D4DD"/>
                </a:solidFill>
                <a:latin typeface="PingFang SC"/>
                <a:ea typeface="PingFang SC"/>
                <a:cs typeface="PingFang SC"/>
              </a:rPr>
              <a:t>连续失败触发提醒</a:t>
            </a:r>
          </a:p>
        </p:txBody>
      </p:sp>
      <p:sp>
        <p:nvSpPr>
          <p:cNvPr id="10" name="">
            <a:extLst xmlns:a="http://schemas.openxmlformats.org/drawingml/2006/main">
              <a:ext uri="{FF2B5EF4-FFF2-40B4-BE49-F238E27FC236}">
                <a16:creationId xmlns:a16="http://schemas.microsoft.com/office/drawing/2014/main" id="{EF768265-485F-469B-818D-AC3217AE8386}"/>
              </a:ext>
            </a:extLst>
          </p:cNvPr>
          <p:cNvSpPr>
            <a:spLocks xmlns:a="http://schemas.openxmlformats.org/drawingml/2006/main" noGrp="1"/>
          </p:cNvSpPr>
          <p:nvPr/>
        </p:nvSpPr>
        <p:spPr>
          <a:xfrm xmlns:a="http://schemas.openxmlformats.org/drawingml/2006/main">
            <a:off x="838200" y="6343650"/>
            <a:ext cx="672465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4200" b="1">
                <a:solidFill>
                  <a:srgbClr val="3366FF"/>
                </a:solidFill>
                <a:latin typeface="Aptos"/>
                <a:ea typeface="Aptos"/>
                <a:cs typeface="Aptos"/>
              </a:defRPr>
            </a:pPr>
            <a:r>
              <a:rPr sz="4200" b="1">
                <a:solidFill>
                  <a:srgbClr val="3366FF"/>
                </a:solidFill>
                <a:latin typeface="Aptos"/>
                <a:ea typeface="Aptos"/>
                <a:cs typeface="Aptos"/>
              </a:rPr>
              <a:t>ROI</a:t>
            </a:r>
          </a:p>
        </p:txBody>
      </p:sp>
      <p:sp>
        <p:nvSpPr>
          <p:cNvPr id="11" name="">
            <a:extLst xmlns:a="http://schemas.openxmlformats.org/drawingml/2006/main">
              <a:ext uri="{FF2B5EF4-FFF2-40B4-BE49-F238E27FC236}">
                <a16:creationId xmlns:a16="http://schemas.microsoft.com/office/drawing/2014/main" id="{D217FB98-A085-4A0B-8C9A-3DD74E15B198}"/>
              </a:ext>
            </a:extLst>
          </p:cNvPr>
          <p:cNvSpPr>
            <a:spLocks xmlns:a="http://schemas.openxmlformats.org/drawingml/2006/main" noGrp="1"/>
          </p:cNvSpPr>
          <p:nvPr/>
        </p:nvSpPr>
        <p:spPr>
          <a:xfrm xmlns:a="http://schemas.openxmlformats.org/drawingml/2006/main">
            <a:off x="838200" y="6972300"/>
            <a:ext cx="67246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C8D4DD"/>
                </a:solidFill>
                <a:latin typeface="PingFang SC"/>
                <a:ea typeface="PingFang SC"/>
                <a:cs typeface="PingFang SC"/>
              </a:defRPr>
            </a:pPr>
            <a:r>
              <a:rPr sz="1350">
                <a:solidFill>
                  <a:srgbClr val="C8D4DD"/>
                </a:solidFill>
                <a:latin typeface="PingFang SC"/>
                <a:ea typeface="PingFang SC"/>
                <a:cs typeface="PingFang SC"/>
              </a:rPr>
              <a:t>按每 1k Token 计算产出</a:t>
            </a:r>
          </a:p>
        </p:txBody>
      </p:sp>
      <p:sp>
        <p:nvSpPr>
          <p:cNvPr id="12" name="step-rule-Schedule（定时任务）失败追踪">
            <a:extLst xmlns:a="http://schemas.openxmlformats.org/drawingml/2006/main">
              <a:ext uri="{FF2B5EF4-FFF2-40B4-BE49-F238E27FC236}">
                <a16:creationId xmlns:a16="http://schemas.microsoft.com/office/drawing/2014/main" id="{672A3FEC-0899-4319-8F6D-AB2129B3868A}"/>
              </a:ext>
            </a:extLst>
          </p:cNvPr>
          <p:cNvSpPr>
            <a:spLocks xmlns:a="http://schemas.openxmlformats.org/drawingml/2006/main" noGrp="1"/>
          </p:cNvSpPr>
          <p:nvPr/>
        </p:nvSpPr>
        <p:spPr>
          <a:xfrm xmlns:a="http://schemas.openxmlformats.org/drawingml/2006/main">
            <a:off x="8343900" y="4038600"/>
            <a:ext cx="1047750" cy="47625"/>
          </a:xfrm>
          <a:prstGeom xmlns:a="http://schemas.openxmlformats.org/drawingml/2006/main" prst="rect">
            <a:avLst/>
          </a:prstGeom>
          <a:solidFill xmlns:a="http://schemas.openxmlformats.org/drawingml/2006/main">
            <a:srgbClr val="F6C85F"/>
          </a:solidFill>
          <a:ln xmlns:a="http://schemas.openxmlformats.org/drawingml/2006/main" w="0">
            <a:solidFill>
              <a:srgbClr val="F6C85F"/>
            </a:solidFill>
            <a:prstDash val="solid"/>
          </a:ln>
        </p:spPr>
      </p:sp>
      <p:sp>
        <p:nvSpPr>
          <p:cNvPr id="13" name="">
            <a:extLst xmlns:a="http://schemas.openxmlformats.org/drawingml/2006/main">
              <a:ext uri="{FF2B5EF4-FFF2-40B4-BE49-F238E27FC236}">
                <a16:creationId xmlns:a16="http://schemas.microsoft.com/office/drawing/2014/main" id="{BED08356-4E8A-4C2E-A2D3-F2D3543C83F6}"/>
              </a:ext>
            </a:extLst>
          </p:cNvPr>
          <p:cNvSpPr>
            <a:spLocks xmlns:a="http://schemas.openxmlformats.org/drawingml/2006/main" noGrp="1"/>
          </p:cNvSpPr>
          <p:nvPr/>
        </p:nvSpPr>
        <p:spPr>
          <a:xfrm xmlns:a="http://schemas.openxmlformats.org/drawingml/2006/main">
            <a:off x="8343900" y="4171950"/>
            <a:ext cx="91059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Schedule（定时任务）失败追踪</a:t>
            </a:r>
          </a:p>
        </p:txBody>
      </p:sp>
      <p:sp>
        <p:nvSpPr>
          <p:cNvPr id="14" name="">
            <a:extLst xmlns:a="http://schemas.openxmlformats.org/drawingml/2006/main">
              <a:ext uri="{FF2B5EF4-FFF2-40B4-BE49-F238E27FC236}">
                <a16:creationId xmlns:a16="http://schemas.microsoft.com/office/drawing/2014/main" id="{DB1CEC56-A58B-4C4E-94A6-5AE690761A6D}"/>
              </a:ext>
            </a:extLst>
          </p:cNvPr>
          <p:cNvSpPr>
            <a:spLocks xmlns:a="http://schemas.openxmlformats.org/drawingml/2006/main" noGrp="1"/>
          </p:cNvSpPr>
          <p:nvPr/>
        </p:nvSpPr>
        <p:spPr>
          <a:xfrm xmlns:a="http://schemas.openxmlformats.org/drawingml/2006/main">
            <a:off x="8343900" y="4610100"/>
            <a:ext cx="9105900" cy="476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timeout_minutes（超时分钟数）、consecutive_failures（连续失败次数）、last_succeeded_at（上次成功时间）进入模型。</a:t>
            </a:r>
          </a:p>
        </p:txBody>
      </p:sp>
      <p:sp>
        <p:nvSpPr>
          <p:cNvPr id="15" name="step-rule-TaskKanban（任务看板）更接近真实工作流">
            <a:extLst xmlns:a="http://schemas.openxmlformats.org/drawingml/2006/main">
              <a:ext uri="{FF2B5EF4-FFF2-40B4-BE49-F238E27FC236}">
                <a16:creationId xmlns:a16="http://schemas.microsoft.com/office/drawing/2014/main" id="{FB276C1A-612B-4253-9301-2146D08511BC}"/>
              </a:ext>
            </a:extLst>
          </p:cNvPr>
          <p:cNvSpPr>
            <a:spLocks xmlns:a="http://schemas.openxmlformats.org/drawingml/2006/main" noGrp="1"/>
          </p:cNvSpPr>
          <p:nvPr/>
        </p:nvSpPr>
        <p:spPr>
          <a:xfrm xmlns:a="http://schemas.openxmlformats.org/drawingml/2006/main">
            <a:off x="8343900" y="5353050"/>
            <a:ext cx="1047750" cy="47625"/>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prstDash val="solid"/>
          </a:ln>
        </p:spPr>
      </p:sp>
      <p:sp>
        <p:nvSpPr>
          <p:cNvPr id="16" name="">
            <a:extLst xmlns:a="http://schemas.openxmlformats.org/drawingml/2006/main">
              <a:ext uri="{FF2B5EF4-FFF2-40B4-BE49-F238E27FC236}">
                <a16:creationId xmlns:a16="http://schemas.microsoft.com/office/drawing/2014/main" id="{2A72E528-F9D1-4644-8AF3-BA9CA67178DE}"/>
              </a:ext>
            </a:extLst>
          </p:cNvPr>
          <p:cNvSpPr>
            <a:spLocks xmlns:a="http://schemas.openxmlformats.org/drawingml/2006/main" noGrp="1"/>
          </p:cNvSpPr>
          <p:nvPr/>
        </p:nvSpPr>
        <p:spPr>
          <a:xfrm xmlns:a="http://schemas.openxmlformats.org/drawingml/2006/main">
            <a:off x="8343900" y="5505450"/>
            <a:ext cx="91059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TaskKanban（任务看板）更接近真实工作流</a:t>
            </a:r>
          </a:p>
        </p:txBody>
      </p:sp>
      <p:sp>
        <p:nvSpPr>
          <p:cNvPr id="17" name="">
            <a:extLst xmlns:a="http://schemas.openxmlformats.org/drawingml/2006/main">
              <a:ext uri="{FF2B5EF4-FFF2-40B4-BE49-F238E27FC236}">
                <a16:creationId xmlns:a16="http://schemas.microsoft.com/office/drawing/2014/main" id="{A09F07AA-B1A4-43A5-ADA4-27CBA5B96B2F}"/>
              </a:ext>
            </a:extLst>
          </p:cNvPr>
          <p:cNvSpPr>
            <a:spLocks xmlns:a="http://schemas.openxmlformats.org/drawingml/2006/main" noGrp="1"/>
          </p:cNvSpPr>
          <p:nvPr/>
        </p:nvSpPr>
        <p:spPr>
          <a:xfrm xmlns:a="http://schemas.openxmlformats.org/drawingml/2006/main">
            <a:off x="8343900" y="5943600"/>
            <a:ext cx="91059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失败任务展示 failure_reason（失败原因），历史任务按列滚动分页。</a:t>
            </a:r>
          </a:p>
        </p:txBody>
      </p:sp>
      <p:sp>
        <p:nvSpPr>
          <p:cNvPr id="18" name="step-rule-AI 员工绩效与全局工资单">
            <a:extLst xmlns:a="http://schemas.openxmlformats.org/drawingml/2006/main">
              <a:ext uri="{FF2B5EF4-FFF2-40B4-BE49-F238E27FC236}">
                <a16:creationId xmlns:a16="http://schemas.microsoft.com/office/drawing/2014/main" id="{7EE42CF2-B71B-4427-8128-E6CAE40362A8}"/>
              </a:ext>
            </a:extLst>
          </p:cNvPr>
          <p:cNvSpPr>
            <a:spLocks xmlns:a="http://schemas.openxmlformats.org/drawingml/2006/main" noGrp="1"/>
          </p:cNvSpPr>
          <p:nvPr/>
        </p:nvSpPr>
        <p:spPr>
          <a:xfrm xmlns:a="http://schemas.openxmlformats.org/drawingml/2006/main">
            <a:off x="8343900" y="6438900"/>
            <a:ext cx="104775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19" name="">
            <a:extLst xmlns:a="http://schemas.openxmlformats.org/drawingml/2006/main">
              <a:ext uri="{FF2B5EF4-FFF2-40B4-BE49-F238E27FC236}">
                <a16:creationId xmlns:a16="http://schemas.microsoft.com/office/drawing/2014/main" id="{336A274D-F36C-4BD1-9469-06AC7DA002E6}"/>
              </a:ext>
            </a:extLst>
          </p:cNvPr>
          <p:cNvSpPr>
            <a:spLocks xmlns:a="http://schemas.openxmlformats.org/drawingml/2006/main" noGrp="1"/>
          </p:cNvSpPr>
          <p:nvPr/>
        </p:nvSpPr>
        <p:spPr>
          <a:xfrm xmlns:a="http://schemas.openxmlformats.org/drawingml/2006/main">
            <a:off x="8343900" y="6591300"/>
            <a:ext cx="91059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325" b="1">
                <a:solidFill>
                  <a:srgbClr val="16212D"/>
                </a:solidFill>
                <a:latin typeface="PingFang SC"/>
                <a:ea typeface="PingFang SC"/>
                <a:cs typeface="PingFang SC"/>
              </a:defRPr>
            </a:pPr>
            <a:r>
              <a:rPr sz="2325" b="1">
                <a:solidFill>
                  <a:srgbClr val="16212D"/>
                </a:solidFill>
                <a:latin typeface="PingFang SC"/>
                <a:ea typeface="PingFang SC"/>
                <a:cs typeface="PingFang SC"/>
              </a:rPr>
              <a:t>AI 员工绩效与全局工资单</a:t>
            </a:r>
          </a:p>
        </p:txBody>
      </p:sp>
      <p:sp>
        <p:nvSpPr>
          <p:cNvPr id="20" name="">
            <a:extLst xmlns:a="http://schemas.openxmlformats.org/drawingml/2006/main">
              <a:ext uri="{FF2B5EF4-FFF2-40B4-BE49-F238E27FC236}">
                <a16:creationId xmlns:a16="http://schemas.microsoft.com/office/drawing/2014/main" id="{1BCAFCCF-C3F8-488B-B2F3-09B8C86813E0}"/>
              </a:ext>
            </a:extLst>
          </p:cNvPr>
          <p:cNvSpPr>
            <a:spLocks xmlns:a="http://schemas.openxmlformats.org/drawingml/2006/main" noGrp="1"/>
          </p:cNvSpPr>
          <p:nvPr/>
        </p:nvSpPr>
        <p:spPr>
          <a:xfrm xmlns:a="http://schemas.openxmlformats.org/drawingml/2006/main">
            <a:off x="8343900" y="7029450"/>
            <a:ext cx="91059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575">
                <a:solidFill>
                  <a:srgbClr val="5B6875"/>
                </a:solidFill>
                <a:latin typeface="PingFang SC"/>
                <a:ea typeface="PingFang SC"/>
                <a:cs typeface="PingFang SC"/>
              </a:defRPr>
            </a:pPr>
            <a:r>
              <a:rPr sz="1575">
                <a:solidFill>
                  <a:srgbClr val="5B6875"/>
                </a:solidFill>
                <a:latin typeface="PingFang SC"/>
                <a:ea typeface="PingFang SC"/>
                <a:cs typeface="PingFang SC"/>
              </a:rPr>
              <a:t>按 Agent（AI 员工）汇总完成率、失败数、Token（令牌）消耗、价值产出和 ROI（投入产出比）。</a:t>
            </a:r>
          </a:p>
        </p:txBody>
      </p:sp>
      <p:sp>
        <p:nvSpPr>
          <p:cNvPr id="21" name="footer-rule">
            <a:extLst xmlns:a="http://schemas.openxmlformats.org/drawingml/2006/main">
              <a:ext uri="{FF2B5EF4-FFF2-40B4-BE49-F238E27FC236}">
                <a16:creationId xmlns:a16="http://schemas.microsoft.com/office/drawing/2014/main" id="{6B9B71D7-B00C-4484-832C-6462C2EBA9EC}"/>
              </a:ext>
            </a:extLst>
          </p:cNvPr>
          <p:cNvSpPr>
            <a:spLocks xmlns:a="http://schemas.openxmlformats.org/drawingml/2006/main" noGrp="1"/>
          </p:cNvSpPr>
          <p:nvPr/>
        </p:nvSpPr>
        <p:spPr>
          <a:xfrm xmlns:a="http://schemas.openxmlformats.org/drawingml/2006/main">
            <a:off x="838200" y="9544050"/>
            <a:ext cx="1295400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22" name="footer-label">
            <a:extLst xmlns:a="http://schemas.openxmlformats.org/drawingml/2006/main">
              <a:ext uri="{FF2B5EF4-FFF2-40B4-BE49-F238E27FC236}">
                <a16:creationId xmlns:a16="http://schemas.microsoft.com/office/drawing/2014/main" id="{AAC09B3A-2C50-4A24-8BD9-2677D07A86D4}"/>
              </a:ext>
            </a:extLst>
          </p:cNvPr>
          <p:cNvSpPr>
            <a:spLocks xmlns:a="http://schemas.openxmlformats.org/drawingml/2006/main" noGrp="1"/>
          </p:cNvSpPr>
          <p:nvPr/>
        </p:nvSpPr>
        <p:spPr>
          <a:xfrm xmlns:a="http://schemas.openxmlformats.org/drawingml/2006/main">
            <a:off x="13944600" y="9410700"/>
            <a:ext cx="35052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代表提交：feat(portal): AI 员工绩效面板 + 全局工资单页面</a:t>
            </a:r>
          </a:p>
        </p:txBody>
      </p:sp>
    </p:spTree>
    <p:extLst>
      <p:ext uri="{BB962C8B-B14F-4D97-AF65-F5344CB8AC3E}">
        <p14:creationId xmlns:p14="http://schemas.microsoft.com/office/powerpoint/2010/main" val="4312350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BD3F8C2E-A1E2-40AC-98EA-D73E29FCD46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EEF4EF"/>
          </a:solidFill>
          <a:ln xmlns:a="http://schemas.openxmlformats.org/drawingml/2006/main" w="0">
            <a:solidFill>
              <a:srgbClr val="EEF4EF"/>
            </a:solidFill>
            <a:prstDash val="solid"/>
          </a:ln>
        </p:spPr>
      </p:sp>
      <p:sp>
        <p:nvSpPr>
          <p:cNvPr id="2" name="kicker-rule">
            <a:extLst xmlns:a="http://schemas.openxmlformats.org/drawingml/2006/main">
              <a:ext uri="{FF2B5EF4-FFF2-40B4-BE49-F238E27FC236}">
                <a16:creationId xmlns:a16="http://schemas.microsoft.com/office/drawing/2014/main" id="{216D8ECB-5DE5-47F4-ADAA-D8B580646C23}"/>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3" name="kicker">
            <a:extLst xmlns:a="http://schemas.openxmlformats.org/drawingml/2006/main">
              <a:ext uri="{FF2B5EF4-FFF2-40B4-BE49-F238E27FC236}">
                <a16:creationId xmlns:a16="http://schemas.microsoft.com/office/drawing/2014/main" id="{123EBDD3-97E8-4462-A65F-C51CF2382971}"/>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5B6875"/>
                </a:solidFill>
                <a:latin typeface="PingFang SC"/>
                <a:ea typeface="PingFang SC"/>
                <a:cs typeface="PingFang SC"/>
              </a:defRPr>
            </a:pPr>
            <a:r>
              <a:rPr sz="1350" b="1">
                <a:solidFill>
                  <a:srgbClr val="5B6875"/>
                </a:solidFill>
                <a:latin typeface="PingFang SC"/>
                <a:ea typeface="PingFang SC"/>
                <a:cs typeface="PingFang SC"/>
              </a:rPr>
              <a:t>07 运行底座</a:t>
            </a:r>
          </a:p>
        </p:txBody>
      </p:sp>
      <p:sp>
        <p:nvSpPr>
          <p:cNvPr id="4" name="slide-title">
            <a:extLst xmlns:a="http://schemas.openxmlformats.org/drawingml/2006/main">
              <a:ext uri="{FF2B5EF4-FFF2-40B4-BE49-F238E27FC236}">
                <a16:creationId xmlns:a16="http://schemas.microsoft.com/office/drawing/2014/main" id="{D63DA631-1AE7-45BF-8FF7-51BD706664CD}"/>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16212D"/>
                </a:solidFill>
                <a:latin typeface="PingFang SC"/>
                <a:ea typeface="PingFang SC"/>
                <a:cs typeface="PingFang SC"/>
              </a:defRPr>
            </a:pPr>
            <a:r>
              <a:rPr sz="3900" b="1">
                <a:solidFill>
                  <a:srgbClr val="16212D"/>
                </a:solidFill>
                <a:latin typeface="PingFang SC"/>
                <a:ea typeface="PingFang SC"/>
                <a:cs typeface="PingFang SC"/>
              </a:rPr>
              <a:t>网络、存储、运行时管理更完整</a:t>
            </a:r>
          </a:p>
        </p:txBody>
      </p:sp>
      <p:sp>
        <p:nvSpPr>
          <p:cNvPr id="5" name="slide-subtitle">
            <a:extLst xmlns:a="http://schemas.openxmlformats.org/drawingml/2006/main">
              <a:ext uri="{FF2B5EF4-FFF2-40B4-BE49-F238E27FC236}">
                <a16:creationId xmlns:a16="http://schemas.microsoft.com/office/drawing/2014/main" id="{91864623-3992-4FC7-B3CC-F1FF8AC4676D}"/>
              </a:ext>
            </a:extLst>
          </p:cNvPr>
          <p:cNvSpPr>
            <a:spLocks xmlns:a="http://schemas.openxmlformats.org/drawingml/2006/main" noGrp="1"/>
          </p:cNvSpPr>
          <p:nvPr/>
        </p:nvSpPr>
        <p:spPr>
          <a:xfrm xmlns:a="http://schemas.openxmlformats.org/drawingml/2006/main">
            <a:off x="838200" y="1619250"/>
            <a:ext cx="8001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5B6875"/>
                </a:solidFill>
                <a:latin typeface="PingFang SC"/>
                <a:ea typeface="PingFang SC"/>
                <a:cs typeface="PingFang SC"/>
              </a:defRPr>
            </a:pPr>
            <a:r>
              <a:rPr sz="1800">
                <a:solidFill>
                  <a:srgbClr val="5B6875"/>
                </a:solidFill>
                <a:latin typeface="PingFang SC"/>
                <a:ea typeface="PingFang SC"/>
                <a:cs typeface="PingFang SC"/>
              </a:rPr>
              <a:t>底层配置不再藏在部署脚本里，而是逐步进入组织设置、集群详情和版本目录。</a:t>
            </a:r>
          </a:p>
        </p:txBody>
      </p:sp>
      <p:sp>
        <p:nvSpPr>
          <p:cNvPr id="6" name="">
            <a:extLst xmlns:a="http://schemas.openxmlformats.org/drawingml/2006/main">
              <a:ext uri="{FF2B5EF4-FFF2-40B4-BE49-F238E27FC236}">
                <a16:creationId xmlns:a16="http://schemas.microsoft.com/office/drawing/2014/main" id="{FE1BF30D-5BC2-46E9-92B8-440D4A493A25}"/>
              </a:ext>
            </a:extLst>
          </p:cNvPr>
          <p:cNvSpPr>
            <a:spLocks xmlns:a="http://schemas.openxmlformats.org/drawingml/2006/main" noGrp="1"/>
          </p:cNvSpPr>
          <p:nvPr/>
        </p:nvSpPr>
        <p:spPr>
          <a:xfrm xmlns:a="http://schemas.openxmlformats.org/drawingml/2006/main">
            <a:off x="838200" y="4800600"/>
            <a:ext cx="52387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3366FF"/>
                </a:solidFill>
                <a:latin typeface="Aptos"/>
                <a:ea typeface="Aptos"/>
                <a:cs typeface="Aptos"/>
              </a:defRPr>
            </a:pPr>
            <a:r>
              <a:rPr sz="2700" b="1">
                <a:solidFill>
                  <a:srgbClr val="3366FF"/>
                </a:solidFill>
                <a:latin typeface="Aptos"/>
                <a:ea typeface="Aptos"/>
                <a:cs typeface="Aptos"/>
              </a:rPr>
              <a:t>NetworkPolicy</a:t>
            </a:r>
          </a:p>
        </p:txBody>
      </p:sp>
      <p:sp>
        <p:nvSpPr>
          <p:cNvPr id="7" name="">
            <a:extLst xmlns:a="http://schemas.openxmlformats.org/drawingml/2006/main">
              <a:ext uri="{FF2B5EF4-FFF2-40B4-BE49-F238E27FC236}">
                <a16:creationId xmlns:a16="http://schemas.microsoft.com/office/drawing/2014/main" id="{3A5DE85D-D09E-4049-9AFA-8F929549905E}"/>
              </a:ext>
            </a:extLst>
          </p:cNvPr>
          <p:cNvSpPr>
            <a:spLocks xmlns:a="http://schemas.openxmlformats.org/drawingml/2006/main" noGrp="1"/>
          </p:cNvSpPr>
          <p:nvPr/>
        </p:nvSpPr>
        <p:spPr>
          <a:xfrm xmlns:a="http://schemas.openxmlformats.org/drawingml/2006/main">
            <a:off x="838200" y="5353050"/>
            <a:ext cx="52387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a:solidFill>
                  <a:srgbClr val="16212D"/>
                </a:solidFill>
                <a:latin typeface="PingFang SC"/>
                <a:ea typeface="PingFang SC"/>
                <a:cs typeface="PingFang SC"/>
              </a:defRPr>
            </a:pPr>
            <a:r>
              <a:rPr sz="2100">
                <a:solidFill>
                  <a:srgbClr val="16212D"/>
                </a:solidFill>
                <a:latin typeface="PingFang SC"/>
                <a:ea typeface="PingFang SC"/>
                <a:cs typeface="PingFang SC"/>
              </a:rPr>
              <a:t>（网络策略）</a:t>
            </a:r>
          </a:p>
        </p:txBody>
      </p:sp>
      <p:sp>
        <p:nvSpPr>
          <p:cNvPr id="8" name="">
            <a:extLst xmlns:a="http://schemas.openxmlformats.org/drawingml/2006/main">
              <a:ext uri="{FF2B5EF4-FFF2-40B4-BE49-F238E27FC236}">
                <a16:creationId xmlns:a16="http://schemas.microsoft.com/office/drawing/2014/main" id="{C492C6B4-F243-4266-B024-9DBF90AC531E}"/>
              </a:ext>
            </a:extLst>
          </p:cNvPr>
          <p:cNvSpPr>
            <a:spLocks xmlns:a="http://schemas.openxmlformats.org/drawingml/2006/main" noGrp="1"/>
          </p:cNvSpPr>
          <p:nvPr/>
        </p:nvSpPr>
        <p:spPr>
          <a:xfrm xmlns:a="http://schemas.openxmlformats.org/drawingml/2006/main">
            <a:off x="838200" y="5867400"/>
            <a:ext cx="1524000" cy="47625"/>
          </a:xfrm>
          <a:prstGeom xmlns:a="http://schemas.openxmlformats.org/drawingml/2006/main" prst="rect">
            <a:avLst/>
          </a:prstGeom>
          <a:solidFill xmlns:a="http://schemas.openxmlformats.org/drawingml/2006/main">
            <a:srgbClr val="3366FF"/>
          </a:solidFill>
          <a:ln xmlns:a="http://schemas.openxmlformats.org/drawingml/2006/main" w="0">
            <a:solidFill>
              <a:srgbClr val="3366FF"/>
            </a:solidFill>
            <a:prstDash val="solid"/>
          </a:ln>
        </p:spPr>
      </p:sp>
      <p:sp>
        <p:nvSpPr>
          <p:cNvPr id="9" name="">
            <a:extLst xmlns:a="http://schemas.openxmlformats.org/drawingml/2006/main">
              <a:ext uri="{FF2B5EF4-FFF2-40B4-BE49-F238E27FC236}">
                <a16:creationId xmlns:a16="http://schemas.microsoft.com/office/drawing/2014/main" id="{A8AD1F5E-BF32-4A06-80DD-6A287C8DC307}"/>
              </a:ext>
            </a:extLst>
          </p:cNvPr>
          <p:cNvSpPr>
            <a:spLocks xmlns:a="http://schemas.openxmlformats.org/drawingml/2006/main" noGrp="1"/>
          </p:cNvSpPr>
          <p:nvPr/>
        </p:nvSpPr>
        <p:spPr>
          <a:xfrm xmlns:a="http://schemas.openxmlformats.org/drawingml/2006/main">
            <a:off x="838200" y="6134100"/>
            <a:ext cx="52387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725">
                <a:solidFill>
                  <a:srgbClr val="5B6875"/>
                </a:solidFill>
                <a:latin typeface="PingFang SC"/>
                <a:ea typeface="PingFang SC"/>
                <a:cs typeface="PingFang SC"/>
              </a:defRPr>
            </a:pPr>
            <a:r>
              <a:rPr sz="1725">
                <a:solidFill>
                  <a:srgbClr val="5B6875"/>
                </a:solidFill>
                <a:latin typeface="PingFang SC"/>
                <a:ea typeface="PingFang SC"/>
                <a:cs typeface="PingFang SC"/>
              </a:rPr>
              <a:t>Ingress/Egress（入站/出站）独立开关，CE/EE 通用。</a:t>
            </a:r>
          </a:p>
        </p:txBody>
      </p:sp>
      <p:sp>
        <p:nvSpPr>
          <p:cNvPr id="10" name="">
            <a:extLst xmlns:a="http://schemas.openxmlformats.org/drawingml/2006/main">
              <a:ext uri="{FF2B5EF4-FFF2-40B4-BE49-F238E27FC236}">
                <a16:creationId xmlns:a16="http://schemas.microsoft.com/office/drawing/2014/main" id="{4790F321-FE34-4009-BE11-77C306B59E0C}"/>
              </a:ext>
            </a:extLst>
          </p:cNvPr>
          <p:cNvSpPr>
            <a:spLocks xmlns:a="http://schemas.openxmlformats.org/drawingml/2006/main" noGrp="1"/>
          </p:cNvSpPr>
          <p:nvPr/>
        </p:nvSpPr>
        <p:spPr>
          <a:xfrm xmlns:a="http://schemas.openxmlformats.org/drawingml/2006/main">
            <a:off x="6534150" y="4800600"/>
            <a:ext cx="52387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52D1DC"/>
                </a:solidFill>
                <a:latin typeface="Aptos"/>
                <a:ea typeface="Aptos"/>
                <a:cs typeface="Aptos"/>
              </a:defRPr>
            </a:pPr>
            <a:r>
              <a:rPr sz="2700" b="1">
                <a:solidFill>
                  <a:srgbClr val="52D1DC"/>
                </a:solidFill>
                <a:latin typeface="Aptos"/>
                <a:ea typeface="Aptos"/>
                <a:cs typeface="Aptos"/>
              </a:rPr>
              <a:t>StorageClass</a:t>
            </a:r>
          </a:p>
        </p:txBody>
      </p:sp>
      <p:sp>
        <p:nvSpPr>
          <p:cNvPr id="11" name="">
            <a:extLst xmlns:a="http://schemas.openxmlformats.org/drawingml/2006/main">
              <a:ext uri="{FF2B5EF4-FFF2-40B4-BE49-F238E27FC236}">
                <a16:creationId xmlns:a16="http://schemas.microsoft.com/office/drawing/2014/main" id="{83360FFD-E5AB-4203-8D31-8F4C983BBB27}"/>
              </a:ext>
            </a:extLst>
          </p:cNvPr>
          <p:cNvSpPr>
            <a:spLocks xmlns:a="http://schemas.openxmlformats.org/drawingml/2006/main" noGrp="1"/>
          </p:cNvSpPr>
          <p:nvPr/>
        </p:nvSpPr>
        <p:spPr>
          <a:xfrm xmlns:a="http://schemas.openxmlformats.org/drawingml/2006/main">
            <a:off x="6534150" y="5353050"/>
            <a:ext cx="52387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a:solidFill>
                  <a:srgbClr val="16212D"/>
                </a:solidFill>
                <a:latin typeface="PingFang SC"/>
                <a:ea typeface="PingFang SC"/>
                <a:cs typeface="PingFang SC"/>
              </a:defRPr>
            </a:pPr>
            <a:r>
              <a:rPr sz="2100">
                <a:solidFill>
                  <a:srgbClr val="16212D"/>
                </a:solidFill>
                <a:latin typeface="PingFang SC"/>
                <a:ea typeface="PingFang SC"/>
                <a:cs typeface="PingFang SC"/>
              </a:rPr>
              <a:t>（存储类）</a:t>
            </a:r>
          </a:p>
        </p:txBody>
      </p:sp>
      <p:sp>
        <p:nvSpPr>
          <p:cNvPr id="12" name="">
            <a:extLst xmlns:a="http://schemas.openxmlformats.org/drawingml/2006/main">
              <a:ext uri="{FF2B5EF4-FFF2-40B4-BE49-F238E27FC236}">
                <a16:creationId xmlns:a16="http://schemas.microsoft.com/office/drawing/2014/main" id="{A858BF16-7607-45E5-8955-FE54E430FF67}"/>
              </a:ext>
            </a:extLst>
          </p:cNvPr>
          <p:cNvSpPr>
            <a:spLocks xmlns:a="http://schemas.openxmlformats.org/drawingml/2006/main" noGrp="1"/>
          </p:cNvSpPr>
          <p:nvPr/>
        </p:nvSpPr>
        <p:spPr>
          <a:xfrm xmlns:a="http://schemas.openxmlformats.org/drawingml/2006/main">
            <a:off x="6534150" y="5867400"/>
            <a:ext cx="1524000" cy="47625"/>
          </a:xfrm>
          <a:prstGeom xmlns:a="http://schemas.openxmlformats.org/drawingml/2006/main" prst="rect">
            <a:avLst/>
          </a:prstGeom>
          <a:solidFill xmlns:a="http://schemas.openxmlformats.org/drawingml/2006/main">
            <a:srgbClr val="52D1DC"/>
          </a:solidFill>
          <a:ln xmlns:a="http://schemas.openxmlformats.org/drawingml/2006/main" w="0">
            <a:solidFill>
              <a:srgbClr val="52D1DC"/>
            </a:solidFill>
            <a:prstDash val="solid"/>
          </a:ln>
        </p:spPr>
      </p:sp>
      <p:sp>
        <p:nvSpPr>
          <p:cNvPr id="13" name="">
            <a:extLst xmlns:a="http://schemas.openxmlformats.org/drawingml/2006/main">
              <a:ext uri="{FF2B5EF4-FFF2-40B4-BE49-F238E27FC236}">
                <a16:creationId xmlns:a16="http://schemas.microsoft.com/office/drawing/2014/main" id="{15196CD3-1495-4B75-89B7-CCE0D5F987A6}"/>
              </a:ext>
            </a:extLst>
          </p:cNvPr>
          <p:cNvSpPr>
            <a:spLocks xmlns:a="http://schemas.openxmlformats.org/drawingml/2006/main" noGrp="1"/>
          </p:cNvSpPr>
          <p:nvPr/>
        </p:nvSpPr>
        <p:spPr>
          <a:xfrm xmlns:a="http://schemas.openxmlformats.org/drawingml/2006/main">
            <a:off x="6534150" y="6134100"/>
            <a:ext cx="52387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725">
                <a:solidFill>
                  <a:srgbClr val="5B6875"/>
                </a:solidFill>
                <a:latin typeface="PingFang SC"/>
                <a:ea typeface="PingFang SC"/>
                <a:cs typeface="PingFang SC"/>
              </a:defRPr>
            </a:pPr>
            <a:r>
              <a:rPr sz="1725">
                <a:solidFill>
                  <a:srgbClr val="5B6875"/>
                </a:solidFill>
                <a:latin typeface="PingFang SC"/>
                <a:ea typeface="PingFang SC"/>
                <a:cs typeface="PingFang SC"/>
              </a:rPr>
              <a:t>管理员启用列表进入集群详情，创建实例时只展示可用项。</a:t>
            </a:r>
          </a:p>
        </p:txBody>
      </p:sp>
      <p:sp>
        <p:nvSpPr>
          <p:cNvPr id="14" name="">
            <a:extLst xmlns:a="http://schemas.openxmlformats.org/drawingml/2006/main">
              <a:ext uri="{FF2B5EF4-FFF2-40B4-BE49-F238E27FC236}">
                <a16:creationId xmlns:a16="http://schemas.microsoft.com/office/drawing/2014/main" id="{C5A447D7-1AD1-4655-855A-AFC3CEAB2882}"/>
              </a:ext>
            </a:extLst>
          </p:cNvPr>
          <p:cNvSpPr>
            <a:spLocks xmlns:a="http://schemas.openxmlformats.org/drawingml/2006/main" noGrp="1"/>
          </p:cNvSpPr>
          <p:nvPr/>
        </p:nvSpPr>
        <p:spPr>
          <a:xfrm xmlns:a="http://schemas.openxmlformats.org/drawingml/2006/main">
            <a:off x="12211050" y="4667250"/>
            <a:ext cx="52387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FF6B6B"/>
                </a:solidFill>
                <a:latin typeface="Aptos"/>
                <a:ea typeface="Aptos"/>
                <a:cs typeface="Aptos"/>
              </a:defRPr>
            </a:pPr>
            <a:r>
              <a:rPr sz="2700" b="1">
                <a:solidFill>
                  <a:srgbClr val="FF6B6B"/>
                </a:solidFill>
                <a:latin typeface="Aptos"/>
                <a:ea typeface="Aptos"/>
                <a:cs typeface="Aptos"/>
              </a:rPr>
              <a:t>EngineVersion</a:t>
            </a:r>
          </a:p>
        </p:txBody>
      </p:sp>
      <p:sp>
        <p:nvSpPr>
          <p:cNvPr id="15" name="">
            <a:extLst xmlns:a="http://schemas.openxmlformats.org/drawingml/2006/main">
              <a:ext uri="{FF2B5EF4-FFF2-40B4-BE49-F238E27FC236}">
                <a16:creationId xmlns:a16="http://schemas.microsoft.com/office/drawing/2014/main" id="{75234C22-8CC8-4539-829F-08614CB47056}"/>
              </a:ext>
            </a:extLst>
          </p:cNvPr>
          <p:cNvSpPr>
            <a:spLocks xmlns:a="http://schemas.openxmlformats.org/drawingml/2006/main" noGrp="1"/>
          </p:cNvSpPr>
          <p:nvPr/>
        </p:nvSpPr>
        <p:spPr>
          <a:xfrm xmlns:a="http://schemas.openxmlformats.org/drawingml/2006/main">
            <a:off x="12211050" y="5219700"/>
            <a:ext cx="52387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a:solidFill>
                  <a:srgbClr val="16212D"/>
                </a:solidFill>
                <a:latin typeface="PingFang SC"/>
                <a:ea typeface="PingFang SC"/>
                <a:cs typeface="PingFang SC"/>
              </a:defRPr>
            </a:pPr>
            <a:r>
              <a:rPr sz="2100">
                <a:solidFill>
                  <a:srgbClr val="16212D"/>
                </a:solidFill>
                <a:latin typeface="PingFang SC"/>
                <a:ea typeface="PingFang SC"/>
                <a:cs typeface="PingFang SC"/>
              </a:rPr>
              <a:t>（引擎版本目录）</a:t>
            </a:r>
          </a:p>
        </p:txBody>
      </p:sp>
      <p:sp>
        <p:nvSpPr>
          <p:cNvPr id="16" name="">
            <a:extLst xmlns:a="http://schemas.openxmlformats.org/drawingml/2006/main">
              <a:ext uri="{FF2B5EF4-FFF2-40B4-BE49-F238E27FC236}">
                <a16:creationId xmlns:a16="http://schemas.microsoft.com/office/drawing/2014/main" id="{F77E076E-56D9-4495-A02F-A2575C3D657A}"/>
              </a:ext>
            </a:extLst>
          </p:cNvPr>
          <p:cNvSpPr>
            <a:spLocks xmlns:a="http://schemas.openxmlformats.org/drawingml/2006/main" noGrp="1"/>
          </p:cNvSpPr>
          <p:nvPr/>
        </p:nvSpPr>
        <p:spPr>
          <a:xfrm xmlns:a="http://schemas.openxmlformats.org/drawingml/2006/main">
            <a:off x="12211050" y="5734050"/>
            <a:ext cx="1524000" cy="47625"/>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prstDash val="solid"/>
          </a:ln>
        </p:spPr>
      </p:sp>
      <p:sp>
        <p:nvSpPr>
          <p:cNvPr id="17" name="">
            <a:extLst xmlns:a="http://schemas.openxmlformats.org/drawingml/2006/main">
              <a:ext uri="{FF2B5EF4-FFF2-40B4-BE49-F238E27FC236}">
                <a16:creationId xmlns:a16="http://schemas.microsoft.com/office/drawing/2014/main" id="{262B4E0A-C21A-4B0A-BCF2-98CE1808B2A5}"/>
              </a:ext>
            </a:extLst>
          </p:cNvPr>
          <p:cNvSpPr>
            <a:spLocks xmlns:a="http://schemas.openxmlformats.org/drawingml/2006/main" noGrp="1"/>
          </p:cNvSpPr>
          <p:nvPr/>
        </p:nvSpPr>
        <p:spPr>
          <a:xfrm xmlns:a="http://schemas.openxmlformats.org/drawingml/2006/main">
            <a:off x="12211050" y="6000750"/>
            <a:ext cx="52387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725">
                <a:solidFill>
                  <a:srgbClr val="5B6875"/>
                </a:solidFill>
                <a:latin typeface="PingFang SC"/>
                <a:ea typeface="PingFang SC"/>
                <a:cs typeface="PingFang SC"/>
              </a:defRPr>
            </a:pPr>
            <a:r>
              <a:rPr sz="1725">
                <a:solidFill>
                  <a:srgbClr val="5B6875"/>
                </a:solidFill>
                <a:latin typeface="PingFang SC"/>
                <a:ea typeface="PingFang SC"/>
                <a:cs typeface="PingFang SC"/>
              </a:rPr>
              <a:t>OpenClaw/Nanobot 版本、release_notes（发布说明）、默认版本可管理。</a:t>
            </a:r>
          </a:p>
        </p:txBody>
      </p:sp>
      <p:sp>
        <p:nvSpPr>
          <p:cNvPr id="18" name="footer-rule">
            <a:extLst xmlns:a="http://schemas.openxmlformats.org/drawingml/2006/main">
              <a:ext uri="{FF2B5EF4-FFF2-40B4-BE49-F238E27FC236}">
                <a16:creationId xmlns:a16="http://schemas.microsoft.com/office/drawing/2014/main" id="{1487689E-B585-4443-A979-05C3A5C8390A}"/>
              </a:ext>
            </a:extLst>
          </p:cNvPr>
          <p:cNvSpPr>
            <a:spLocks xmlns:a="http://schemas.openxmlformats.org/drawingml/2006/main" noGrp="1"/>
          </p:cNvSpPr>
          <p:nvPr/>
        </p:nvSpPr>
        <p:spPr>
          <a:xfrm xmlns:a="http://schemas.openxmlformats.org/drawingml/2006/main">
            <a:off x="838200" y="9601200"/>
            <a:ext cx="1085850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19" name="footer-label">
            <a:extLst xmlns:a="http://schemas.openxmlformats.org/drawingml/2006/main">
              <a:ext uri="{FF2B5EF4-FFF2-40B4-BE49-F238E27FC236}">
                <a16:creationId xmlns:a16="http://schemas.microsoft.com/office/drawing/2014/main" id="{53FF9F3B-A65F-41AA-9CAA-942E45FF31B3}"/>
              </a:ext>
            </a:extLst>
          </p:cNvPr>
          <p:cNvSpPr>
            <a:spLocks xmlns:a="http://schemas.openxmlformats.org/drawingml/2006/main" noGrp="1"/>
          </p:cNvSpPr>
          <p:nvPr/>
        </p:nvSpPr>
        <p:spPr>
          <a:xfrm xmlns:a="http://schemas.openxmlformats.org/drawingml/2006/main">
            <a:off x="11849100" y="9544050"/>
            <a:ext cx="56007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代表提交：feat(backend): 引擎版本目录 + StorageClass 启用管理 + NetworkPolicy 独立开关</a:t>
            </a:r>
          </a:p>
        </p:txBody>
      </p:sp>
    </p:spTree>
    <p:extLst>
      <p:ext uri="{BB962C8B-B14F-4D97-AF65-F5344CB8AC3E}">
        <p14:creationId xmlns:p14="http://schemas.microsoft.com/office/powerpoint/2010/main" val="125640593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6C4AC090-CE20-49B3-A2B6-D3B30422FE0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E1720"/>
          </a:solidFill>
          <a:ln xmlns:a="http://schemas.openxmlformats.org/drawingml/2006/main" w="0">
            <a:solidFill>
              <a:srgbClr val="0E1720"/>
            </a:solidFill>
            <a:prstDash val="solid"/>
          </a:ln>
        </p:spPr>
      </p:sp>
      <p:sp>
        <p:nvSpPr>
          <p:cNvPr id="2" name="kicker-rule">
            <a:extLst xmlns:a="http://schemas.openxmlformats.org/drawingml/2006/main">
              <a:ext uri="{FF2B5EF4-FFF2-40B4-BE49-F238E27FC236}">
                <a16:creationId xmlns:a16="http://schemas.microsoft.com/office/drawing/2014/main" id="{D5D65A0E-8B44-40C5-9C44-2F91ABF29746}"/>
              </a:ext>
            </a:extLst>
          </p:cNvPr>
          <p:cNvSpPr>
            <a:spLocks xmlns:a="http://schemas.openxmlformats.org/drawingml/2006/main" noGrp="1"/>
          </p:cNvSpPr>
          <p:nvPr/>
        </p:nvSpPr>
        <p:spPr>
          <a:xfrm xmlns:a="http://schemas.openxmlformats.org/drawingml/2006/main">
            <a:off x="838200" y="666750"/>
            <a:ext cx="685800" cy="47625"/>
          </a:xfrm>
          <a:prstGeom xmlns:a="http://schemas.openxmlformats.org/drawingml/2006/main" prst="rect">
            <a:avLst/>
          </a:prstGeom>
          <a:solidFill xmlns:a="http://schemas.openxmlformats.org/drawingml/2006/main">
            <a:srgbClr val="8AE6B0"/>
          </a:solidFill>
          <a:ln xmlns:a="http://schemas.openxmlformats.org/drawingml/2006/main" w="0">
            <a:solidFill>
              <a:srgbClr val="8AE6B0"/>
            </a:solidFill>
            <a:prstDash val="solid"/>
          </a:ln>
        </p:spPr>
      </p:sp>
      <p:sp>
        <p:nvSpPr>
          <p:cNvPr id="3" name="kicker">
            <a:extLst xmlns:a="http://schemas.openxmlformats.org/drawingml/2006/main">
              <a:ext uri="{FF2B5EF4-FFF2-40B4-BE49-F238E27FC236}">
                <a16:creationId xmlns:a16="http://schemas.microsoft.com/office/drawing/2014/main" id="{664EC2C3-6613-4187-B46F-510BF89D02FB}"/>
              </a:ext>
            </a:extLst>
          </p:cNvPr>
          <p:cNvSpPr>
            <a:spLocks xmlns:a="http://schemas.openxmlformats.org/drawingml/2006/main" noGrp="1"/>
          </p:cNvSpPr>
          <p:nvPr/>
        </p:nvSpPr>
        <p:spPr>
          <a:xfrm xmlns:a="http://schemas.openxmlformats.org/drawingml/2006/main">
            <a:off x="1638300" y="609600"/>
            <a:ext cx="15811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A7BAC8"/>
                </a:solidFill>
                <a:latin typeface="PingFang SC"/>
                <a:ea typeface="PingFang SC"/>
                <a:cs typeface="PingFang SC"/>
              </a:defRPr>
            </a:pPr>
            <a:r>
              <a:rPr sz="1350" b="1">
                <a:solidFill>
                  <a:srgbClr val="A7BAC8"/>
                </a:solidFill>
                <a:latin typeface="PingFang SC"/>
                <a:ea typeface="PingFang SC"/>
                <a:cs typeface="PingFang SC"/>
              </a:rPr>
              <a:t>收束</a:t>
            </a:r>
          </a:p>
        </p:txBody>
      </p:sp>
      <p:sp>
        <p:nvSpPr>
          <p:cNvPr id="4" name="slide-title">
            <a:extLst xmlns:a="http://schemas.openxmlformats.org/drawingml/2006/main">
              <a:ext uri="{FF2B5EF4-FFF2-40B4-BE49-F238E27FC236}">
                <a16:creationId xmlns:a16="http://schemas.microsoft.com/office/drawing/2014/main" id="{58EB1BAE-C2CC-4DDA-A96E-11B57DBF2C33}"/>
              </a:ext>
            </a:extLst>
          </p:cNvPr>
          <p:cNvSpPr>
            <a:spLocks xmlns:a="http://schemas.openxmlformats.org/drawingml/2006/main" noGrp="1"/>
          </p:cNvSpPr>
          <p:nvPr/>
        </p:nvSpPr>
        <p:spPr>
          <a:xfrm xmlns:a="http://schemas.openxmlformats.org/drawingml/2006/main">
            <a:off x="838200" y="933450"/>
            <a:ext cx="166116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3900" b="1">
                <a:solidFill>
                  <a:srgbClr val="FFFFFF"/>
                </a:solidFill>
                <a:latin typeface="PingFang SC"/>
                <a:ea typeface="PingFang SC"/>
                <a:cs typeface="PingFang SC"/>
              </a:defRPr>
            </a:pPr>
            <a:r>
              <a:rPr sz="3900" b="1">
                <a:solidFill>
                  <a:srgbClr val="FFFFFF"/>
                </a:solidFill>
                <a:latin typeface="PingFang SC"/>
                <a:ea typeface="PingFang SC"/>
                <a:cs typeface="PingFang SC"/>
              </a:rPr>
              <a:t>四月：NoDeskClaw 走向 AI 员工运营平台</a:t>
            </a:r>
          </a:p>
        </p:txBody>
      </p:sp>
      <p:sp>
        <p:nvSpPr>
          <p:cNvPr id="5" name="slide-subtitle">
            <a:extLst xmlns:a="http://schemas.openxmlformats.org/drawingml/2006/main">
              <a:ext uri="{FF2B5EF4-FFF2-40B4-BE49-F238E27FC236}">
                <a16:creationId xmlns:a16="http://schemas.microsoft.com/office/drawing/2014/main" id="{223E8829-7D0F-4B94-8326-422B8A945701}"/>
              </a:ext>
            </a:extLst>
          </p:cNvPr>
          <p:cNvSpPr>
            <a:spLocks xmlns:a="http://schemas.openxmlformats.org/drawingml/2006/main" noGrp="1"/>
          </p:cNvSpPr>
          <p:nvPr/>
        </p:nvSpPr>
        <p:spPr>
          <a:xfrm xmlns:a="http://schemas.openxmlformats.org/drawingml/2006/main">
            <a:off x="838200" y="1619250"/>
            <a:ext cx="8915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800">
                <a:solidFill>
                  <a:srgbClr val="C7D8E4"/>
                </a:solidFill>
                <a:latin typeface="PingFang SC"/>
                <a:ea typeface="PingFang SC"/>
                <a:cs typeface="PingFang SC"/>
              </a:defRPr>
            </a:pPr>
            <a:r>
              <a:rPr sz="1800">
                <a:solidFill>
                  <a:srgbClr val="C7D8E4"/>
                </a:solidFill>
                <a:latin typeface="PingFang SC"/>
                <a:ea typeface="PingFang SC"/>
                <a:cs typeface="PingFang SC"/>
              </a:rPr>
              <a:t>如果要对外分享，可以把这个月的更新讲成一条从基础设施到组织运营的产品升级路径。</a:t>
            </a:r>
          </a:p>
        </p:txBody>
      </p:sp>
      <p:sp>
        <p:nvSpPr>
          <p:cNvPr id="6" name="">
            <a:extLst xmlns:a="http://schemas.openxmlformats.org/drawingml/2006/main">
              <a:ext uri="{FF2B5EF4-FFF2-40B4-BE49-F238E27FC236}">
                <a16:creationId xmlns:a16="http://schemas.microsoft.com/office/drawing/2014/main" id="{287525FF-83B6-416C-943B-043276E30C95}"/>
              </a:ext>
            </a:extLst>
          </p:cNvPr>
          <p:cNvSpPr>
            <a:spLocks xmlns:a="http://schemas.openxmlformats.org/drawingml/2006/main" noGrp="1"/>
          </p:cNvSpPr>
          <p:nvPr/>
        </p:nvSpPr>
        <p:spPr>
          <a:xfrm xmlns:a="http://schemas.openxmlformats.org/drawingml/2006/main">
            <a:off x="838200" y="4591050"/>
            <a:ext cx="9715500" cy="1238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8000"/>
              </a:lnSpc>
              <a:buNone/>
              <a:defRPr sz="4500" b="1">
                <a:solidFill>
                  <a:srgbClr val="FFFFFF"/>
                </a:solidFill>
                <a:latin typeface="PingFang SC"/>
                <a:ea typeface="PingFang SC"/>
                <a:cs typeface="PingFang SC"/>
              </a:defRPr>
            </a:pPr>
            <a:r>
              <a:rPr sz="4500" b="1">
                <a:solidFill>
                  <a:srgbClr val="FFFFFF"/>
                </a:solidFill>
                <a:latin typeface="PingFang SC"/>
                <a:ea typeface="PingFang SC"/>
                <a:cs typeface="PingFang SC"/>
              </a:rPr>
              <a:t>可部署、可路由、可恢复、可度量、可治理。</a:t>
            </a:r>
          </a:p>
        </p:txBody>
      </p:sp>
      <p:sp>
        <p:nvSpPr>
          <p:cNvPr id="7" name="">
            <a:extLst xmlns:a="http://schemas.openxmlformats.org/drawingml/2006/main">
              <a:ext uri="{FF2B5EF4-FFF2-40B4-BE49-F238E27FC236}">
                <a16:creationId xmlns:a16="http://schemas.microsoft.com/office/drawing/2014/main" id="{844CCECD-3B42-42F9-80A4-D6C6815EA21B}"/>
              </a:ext>
            </a:extLst>
          </p:cNvPr>
          <p:cNvSpPr>
            <a:spLocks xmlns:a="http://schemas.openxmlformats.org/drawingml/2006/main" noGrp="1"/>
          </p:cNvSpPr>
          <p:nvPr/>
        </p:nvSpPr>
        <p:spPr>
          <a:xfrm xmlns:a="http://schemas.openxmlformats.org/drawingml/2006/main">
            <a:off x="838200" y="6096000"/>
            <a:ext cx="927735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025">
                <a:solidFill>
                  <a:srgbClr val="C7D8E4"/>
                </a:solidFill>
                <a:latin typeface="PingFang SC"/>
                <a:ea typeface="PingFang SC"/>
                <a:cs typeface="PingFang SC"/>
              </a:defRPr>
            </a:pPr>
            <a:r>
              <a:rPr sz="2025">
                <a:solidFill>
                  <a:srgbClr val="C7D8E4"/>
                </a:solidFill>
                <a:latin typeface="PingFang SC"/>
                <a:ea typeface="PingFang SC"/>
                <a:cs typeface="PingFang SC"/>
              </a:rPr>
              <a:t>这不是“增加了几个管理页面”，而是平台边界在变清楚：实例在哪里、消息去哪儿、失败怎么发现、成本怎么算、版本怎么控。</a:t>
            </a:r>
          </a:p>
        </p:txBody>
      </p:sp>
      <p:sp>
        <p:nvSpPr>
          <p:cNvPr id="8" name="pill-多集群承载">
            <a:extLst xmlns:a="http://schemas.openxmlformats.org/drawingml/2006/main">
              <a:ext uri="{FF2B5EF4-FFF2-40B4-BE49-F238E27FC236}">
                <a16:creationId xmlns:a16="http://schemas.microsoft.com/office/drawing/2014/main" id="{C2A4E875-EFEA-4CEC-B995-39721F60C142}"/>
              </a:ext>
            </a:extLst>
          </p:cNvPr>
          <p:cNvSpPr>
            <a:spLocks xmlns:a="http://schemas.openxmlformats.org/drawingml/2006/main" noGrp="1"/>
          </p:cNvSpPr>
          <p:nvPr/>
        </p:nvSpPr>
        <p:spPr>
          <a:xfrm xmlns:a="http://schemas.openxmlformats.org/drawingml/2006/main">
            <a:off x="10705624" y="4107561"/>
            <a:ext cx="3238500" cy="323850"/>
          </a:xfrm>
          <a:prstGeom xmlns:a="http://schemas.openxmlformats.org/drawingml/2006/main" prst="roundRect">
            <a:avLst>
              <a:gd name="adj" fmla="val 50000"/>
            </a:avLst>
          </a:prstGeom>
          <a:solidFill xmlns:a="http://schemas.openxmlformats.org/drawingml/2006/main">
            <a:srgbClr val="8AE6B0">
              <a:alpha val="10196"/>
            </a:srgbClr>
          </a:solidFill>
          <a:ln xmlns:a="http://schemas.openxmlformats.org/drawingml/2006/main" w="9525">
            <a:solidFill>
              <a:srgbClr val="D7DEE7"/>
            </a:solidFill>
            <a:prstDash val="solid"/>
          </a:ln>
        </p:spPr>
      </p:sp>
      <p:sp>
        <p:nvSpPr>
          <p:cNvPr id="9" name="">
            <a:extLst xmlns:a="http://schemas.openxmlformats.org/drawingml/2006/main">
              <a:ext uri="{FF2B5EF4-FFF2-40B4-BE49-F238E27FC236}">
                <a16:creationId xmlns:a16="http://schemas.microsoft.com/office/drawing/2014/main" id="{2CD8C6B7-336A-4164-A777-8A9D82ADC659}"/>
              </a:ext>
            </a:extLst>
          </p:cNvPr>
          <p:cNvSpPr>
            <a:spLocks xmlns:a="http://schemas.openxmlformats.org/drawingml/2006/main" noGrp="1"/>
          </p:cNvSpPr>
          <p:nvPr/>
        </p:nvSpPr>
        <p:spPr>
          <a:xfrm xmlns:a="http://schemas.openxmlformats.org/drawingml/2006/main">
            <a:off x="10877550" y="41910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8AE6B0"/>
                </a:solidFill>
                <a:latin typeface="PingFang SC"/>
                <a:ea typeface="PingFang SC"/>
                <a:cs typeface="PingFang SC"/>
              </a:defRPr>
            </a:pPr>
            <a:r>
              <a:rPr sz="1350" b="1">
                <a:solidFill>
                  <a:srgbClr val="8AE6B0"/>
                </a:solidFill>
                <a:latin typeface="PingFang SC"/>
                <a:ea typeface="PingFang SC"/>
                <a:cs typeface="PingFang SC"/>
              </a:rPr>
              <a:t>多集群承载</a:t>
            </a:r>
          </a:p>
        </p:txBody>
      </p:sp>
      <p:sp>
        <p:nvSpPr>
          <p:cNvPr id="10" name="pill-拓扑可控协作">
            <a:extLst xmlns:a="http://schemas.openxmlformats.org/drawingml/2006/main">
              <a:ext uri="{FF2B5EF4-FFF2-40B4-BE49-F238E27FC236}">
                <a16:creationId xmlns:a16="http://schemas.microsoft.com/office/drawing/2014/main" id="{6DFE93D3-43F2-4316-882F-446ABC712349}"/>
              </a:ext>
            </a:extLst>
          </p:cNvPr>
          <p:cNvSpPr>
            <a:spLocks xmlns:a="http://schemas.openxmlformats.org/drawingml/2006/main" noGrp="1"/>
          </p:cNvSpPr>
          <p:nvPr/>
        </p:nvSpPr>
        <p:spPr>
          <a:xfrm xmlns:a="http://schemas.openxmlformats.org/drawingml/2006/main">
            <a:off x="10705624" y="4660011"/>
            <a:ext cx="3238500" cy="323850"/>
          </a:xfrm>
          <a:prstGeom xmlns:a="http://schemas.openxmlformats.org/drawingml/2006/main" prst="roundRect">
            <a:avLst>
              <a:gd name="adj" fmla="val 50000"/>
            </a:avLst>
          </a:prstGeom>
          <a:solidFill xmlns:a="http://schemas.openxmlformats.org/drawingml/2006/main">
            <a:srgbClr val="52D1DC">
              <a:alpha val="10196"/>
            </a:srgbClr>
          </a:solidFill>
          <a:ln xmlns:a="http://schemas.openxmlformats.org/drawingml/2006/main" w="9525">
            <a:solidFill>
              <a:srgbClr val="D7DEE7"/>
            </a:solidFill>
            <a:prstDash val="solid"/>
          </a:ln>
        </p:spPr>
      </p:sp>
      <p:sp>
        <p:nvSpPr>
          <p:cNvPr id="11" name="">
            <a:extLst xmlns:a="http://schemas.openxmlformats.org/drawingml/2006/main">
              <a:ext uri="{FF2B5EF4-FFF2-40B4-BE49-F238E27FC236}">
                <a16:creationId xmlns:a16="http://schemas.microsoft.com/office/drawing/2014/main" id="{780B7E84-F8CB-4847-AFCA-6AC6680C0BB3}"/>
              </a:ext>
            </a:extLst>
          </p:cNvPr>
          <p:cNvSpPr>
            <a:spLocks xmlns:a="http://schemas.openxmlformats.org/drawingml/2006/main" noGrp="1"/>
          </p:cNvSpPr>
          <p:nvPr/>
        </p:nvSpPr>
        <p:spPr>
          <a:xfrm xmlns:a="http://schemas.openxmlformats.org/drawingml/2006/main">
            <a:off x="10877550" y="47434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52D1DC"/>
                </a:solidFill>
                <a:latin typeface="PingFang SC"/>
                <a:ea typeface="PingFang SC"/>
                <a:cs typeface="PingFang SC"/>
              </a:defRPr>
            </a:pPr>
            <a:r>
              <a:rPr sz="1350" b="1">
                <a:solidFill>
                  <a:srgbClr val="52D1DC"/>
                </a:solidFill>
                <a:latin typeface="PingFang SC"/>
                <a:ea typeface="PingFang SC"/>
                <a:cs typeface="PingFang SC"/>
              </a:rPr>
              <a:t>拓扑可控协作</a:t>
            </a:r>
          </a:p>
        </p:txBody>
      </p:sp>
      <p:sp>
        <p:nvSpPr>
          <p:cNvPr id="12" name="pill-模板资产复用">
            <a:extLst xmlns:a="http://schemas.openxmlformats.org/drawingml/2006/main">
              <a:ext uri="{FF2B5EF4-FFF2-40B4-BE49-F238E27FC236}">
                <a16:creationId xmlns:a16="http://schemas.microsoft.com/office/drawing/2014/main" id="{83A415C5-44E9-44B5-B4C6-74F8DEDCCB71}"/>
              </a:ext>
            </a:extLst>
          </p:cNvPr>
          <p:cNvSpPr>
            <a:spLocks xmlns:a="http://schemas.openxmlformats.org/drawingml/2006/main" noGrp="1"/>
          </p:cNvSpPr>
          <p:nvPr/>
        </p:nvSpPr>
        <p:spPr>
          <a:xfrm xmlns:a="http://schemas.openxmlformats.org/drawingml/2006/main">
            <a:off x="10705624" y="5212461"/>
            <a:ext cx="3238500" cy="323850"/>
          </a:xfrm>
          <a:prstGeom xmlns:a="http://schemas.openxmlformats.org/drawingml/2006/main" prst="roundRect">
            <a:avLst>
              <a:gd name="adj" fmla="val 50000"/>
            </a:avLst>
          </a:prstGeom>
          <a:solidFill xmlns:a="http://schemas.openxmlformats.org/drawingml/2006/main">
            <a:srgbClr val="F6C85F">
              <a:alpha val="10196"/>
            </a:srgbClr>
          </a:solidFill>
          <a:ln xmlns:a="http://schemas.openxmlformats.org/drawingml/2006/main" w="9525">
            <a:solidFill>
              <a:srgbClr val="D7DEE7"/>
            </a:solidFill>
            <a:prstDash val="solid"/>
          </a:ln>
        </p:spPr>
      </p:sp>
      <p:sp>
        <p:nvSpPr>
          <p:cNvPr id="13" name="">
            <a:extLst xmlns:a="http://schemas.openxmlformats.org/drawingml/2006/main">
              <a:ext uri="{FF2B5EF4-FFF2-40B4-BE49-F238E27FC236}">
                <a16:creationId xmlns:a16="http://schemas.microsoft.com/office/drawing/2014/main" id="{50DB61D5-E3A0-4C3A-B6B4-32F640DEEEB4}"/>
              </a:ext>
            </a:extLst>
          </p:cNvPr>
          <p:cNvSpPr>
            <a:spLocks xmlns:a="http://schemas.openxmlformats.org/drawingml/2006/main" noGrp="1"/>
          </p:cNvSpPr>
          <p:nvPr/>
        </p:nvSpPr>
        <p:spPr>
          <a:xfrm xmlns:a="http://schemas.openxmlformats.org/drawingml/2006/main">
            <a:off x="10877550" y="52959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F6C85F"/>
                </a:solidFill>
                <a:latin typeface="PingFang SC"/>
                <a:ea typeface="PingFang SC"/>
                <a:cs typeface="PingFang SC"/>
              </a:defRPr>
            </a:pPr>
            <a:r>
              <a:rPr sz="1350" b="1">
                <a:solidFill>
                  <a:srgbClr val="F6C85F"/>
                </a:solidFill>
                <a:latin typeface="PingFang SC"/>
                <a:ea typeface="PingFang SC"/>
                <a:cs typeface="PingFang SC"/>
              </a:rPr>
              <a:t>模板资产复用</a:t>
            </a:r>
          </a:p>
        </p:txBody>
      </p:sp>
      <p:sp>
        <p:nvSpPr>
          <p:cNvPr id="14" name="pill-模型统一入口">
            <a:extLst xmlns:a="http://schemas.openxmlformats.org/drawingml/2006/main">
              <a:ext uri="{FF2B5EF4-FFF2-40B4-BE49-F238E27FC236}">
                <a16:creationId xmlns:a16="http://schemas.microsoft.com/office/drawing/2014/main" id="{E39ACB7B-1966-421D-B3B7-DCBB305A2AAE}"/>
              </a:ext>
            </a:extLst>
          </p:cNvPr>
          <p:cNvSpPr>
            <a:spLocks xmlns:a="http://schemas.openxmlformats.org/drawingml/2006/main" noGrp="1"/>
          </p:cNvSpPr>
          <p:nvPr/>
        </p:nvSpPr>
        <p:spPr>
          <a:xfrm xmlns:a="http://schemas.openxmlformats.org/drawingml/2006/main">
            <a:off x="10705624" y="5764911"/>
            <a:ext cx="3238500" cy="323850"/>
          </a:xfrm>
          <a:prstGeom xmlns:a="http://schemas.openxmlformats.org/drawingml/2006/main" prst="roundRect">
            <a:avLst>
              <a:gd name="adj" fmla="val 50000"/>
            </a:avLst>
          </a:prstGeom>
          <a:solidFill xmlns:a="http://schemas.openxmlformats.org/drawingml/2006/main">
            <a:srgbClr val="FF6B6B">
              <a:alpha val="10196"/>
            </a:srgbClr>
          </a:solidFill>
          <a:ln xmlns:a="http://schemas.openxmlformats.org/drawingml/2006/main" w="9525">
            <a:solidFill>
              <a:srgbClr val="D7DEE7"/>
            </a:solidFill>
            <a:prstDash val="solid"/>
          </a:ln>
        </p:spPr>
      </p:sp>
      <p:sp>
        <p:nvSpPr>
          <p:cNvPr id="15" name="">
            <a:extLst xmlns:a="http://schemas.openxmlformats.org/drawingml/2006/main">
              <a:ext uri="{FF2B5EF4-FFF2-40B4-BE49-F238E27FC236}">
                <a16:creationId xmlns:a16="http://schemas.microsoft.com/office/drawing/2014/main" id="{2C83DD08-D3D5-4108-8FE3-2F4111A1D231}"/>
              </a:ext>
            </a:extLst>
          </p:cNvPr>
          <p:cNvSpPr>
            <a:spLocks xmlns:a="http://schemas.openxmlformats.org/drawingml/2006/main" noGrp="1"/>
          </p:cNvSpPr>
          <p:nvPr/>
        </p:nvSpPr>
        <p:spPr>
          <a:xfrm xmlns:a="http://schemas.openxmlformats.org/drawingml/2006/main">
            <a:off x="10877550" y="58483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FF6B6B"/>
                </a:solidFill>
                <a:latin typeface="PingFang SC"/>
                <a:ea typeface="PingFang SC"/>
                <a:cs typeface="PingFang SC"/>
              </a:defRPr>
            </a:pPr>
            <a:r>
              <a:rPr sz="1350" b="1">
                <a:solidFill>
                  <a:srgbClr val="FF6B6B"/>
                </a:solidFill>
                <a:latin typeface="PingFang SC"/>
                <a:ea typeface="PingFang SC"/>
                <a:cs typeface="PingFang SC"/>
              </a:rPr>
              <a:t>模型统一入口</a:t>
            </a:r>
          </a:p>
        </p:txBody>
      </p:sp>
      <p:sp>
        <p:nvSpPr>
          <p:cNvPr id="16" name="pill-灾备与绩效闭环">
            <a:extLst xmlns:a="http://schemas.openxmlformats.org/drawingml/2006/main">
              <a:ext uri="{FF2B5EF4-FFF2-40B4-BE49-F238E27FC236}">
                <a16:creationId xmlns:a16="http://schemas.microsoft.com/office/drawing/2014/main" id="{2C96DA00-C444-42C0-AF04-E5C0B7E5307B}"/>
              </a:ext>
            </a:extLst>
          </p:cNvPr>
          <p:cNvSpPr>
            <a:spLocks xmlns:a="http://schemas.openxmlformats.org/drawingml/2006/main" noGrp="1"/>
          </p:cNvSpPr>
          <p:nvPr/>
        </p:nvSpPr>
        <p:spPr>
          <a:xfrm xmlns:a="http://schemas.openxmlformats.org/drawingml/2006/main">
            <a:off x="10705624" y="6317361"/>
            <a:ext cx="3238500" cy="323850"/>
          </a:xfrm>
          <a:prstGeom xmlns:a="http://schemas.openxmlformats.org/drawingml/2006/main" prst="roundRect">
            <a:avLst>
              <a:gd name="adj" fmla="val 50000"/>
            </a:avLst>
          </a:prstGeom>
          <a:solidFill xmlns:a="http://schemas.openxmlformats.org/drawingml/2006/main">
            <a:srgbClr val="8AE6B0">
              <a:alpha val="10196"/>
            </a:srgbClr>
          </a:solidFill>
          <a:ln xmlns:a="http://schemas.openxmlformats.org/drawingml/2006/main" w="9525">
            <a:solidFill>
              <a:srgbClr val="D7DEE7"/>
            </a:solidFill>
            <a:prstDash val="solid"/>
          </a:ln>
        </p:spPr>
      </p:sp>
      <p:sp>
        <p:nvSpPr>
          <p:cNvPr id="17" name="">
            <a:extLst xmlns:a="http://schemas.openxmlformats.org/drawingml/2006/main">
              <a:ext uri="{FF2B5EF4-FFF2-40B4-BE49-F238E27FC236}">
                <a16:creationId xmlns:a16="http://schemas.microsoft.com/office/drawing/2014/main" id="{724DCE60-A768-49FE-BE76-55D260C0876A}"/>
              </a:ext>
            </a:extLst>
          </p:cNvPr>
          <p:cNvSpPr>
            <a:spLocks xmlns:a="http://schemas.openxmlformats.org/drawingml/2006/main" noGrp="1"/>
          </p:cNvSpPr>
          <p:nvPr/>
        </p:nvSpPr>
        <p:spPr>
          <a:xfrm xmlns:a="http://schemas.openxmlformats.org/drawingml/2006/main">
            <a:off x="10877550" y="640080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8AE6B0"/>
                </a:solidFill>
                <a:latin typeface="PingFang SC"/>
                <a:ea typeface="PingFang SC"/>
                <a:cs typeface="PingFang SC"/>
              </a:defRPr>
            </a:pPr>
            <a:r>
              <a:rPr sz="1350" b="1">
                <a:solidFill>
                  <a:srgbClr val="8AE6B0"/>
                </a:solidFill>
                <a:latin typeface="PingFang SC"/>
                <a:ea typeface="PingFang SC"/>
                <a:cs typeface="PingFang SC"/>
              </a:rPr>
              <a:t>灾备与绩效闭环</a:t>
            </a:r>
          </a:p>
        </p:txBody>
      </p:sp>
      <p:sp>
        <p:nvSpPr>
          <p:cNvPr id="18" name="pill-网络存储版本治理">
            <a:extLst xmlns:a="http://schemas.openxmlformats.org/drawingml/2006/main">
              <a:ext uri="{FF2B5EF4-FFF2-40B4-BE49-F238E27FC236}">
                <a16:creationId xmlns:a16="http://schemas.microsoft.com/office/drawing/2014/main" id="{200EF0F5-169F-475C-BD64-B99CECAE7583}"/>
              </a:ext>
            </a:extLst>
          </p:cNvPr>
          <p:cNvSpPr>
            <a:spLocks xmlns:a="http://schemas.openxmlformats.org/drawingml/2006/main" noGrp="1"/>
          </p:cNvSpPr>
          <p:nvPr/>
        </p:nvSpPr>
        <p:spPr>
          <a:xfrm xmlns:a="http://schemas.openxmlformats.org/drawingml/2006/main">
            <a:off x="10705624" y="6869811"/>
            <a:ext cx="3238500" cy="323850"/>
          </a:xfrm>
          <a:prstGeom xmlns:a="http://schemas.openxmlformats.org/drawingml/2006/main" prst="roundRect">
            <a:avLst>
              <a:gd name="adj" fmla="val 50000"/>
            </a:avLst>
          </a:prstGeom>
          <a:solidFill xmlns:a="http://schemas.openxmlformats.org/drawingml/2006/main">
            <a:srgbClr val="52D1DC">
              <a:alpha val="10196"/>
            </a:srgbClr>
          </a:solidFill>
          <a:ln xmlns:a="http://schemas.openxmlformats.org/drawingml/2006/main" w="9525">
            <a:solidFill>
              <a:srgbClr val="D7DEE7"/>
            </a:solidFill>
            <a:prstDash val="solid"/>
          </a:ln>
        </p:spPr>
      </p:sp>
      <p:sp>
        <p:nvSpPr>
          <p:cNvPr id="19" name="">
            <a:extLst xmlns:a="http://schemas.openxmlformats.org/drawingml/2006/main">
              <a:ext uri="{FF2B5EF4-FFF2-40B4-BE49-F238E27FC236}">
                <a16:creationId xmlns:a16="http://schemas.microsoft.com/office/drawing/2014/main" id="{343FA07E-9314-4E33-9473-AC75CD06FC0C}"/>
              </a:ext>
            </a:extLst>
          </p:cNvPr>
          <p:cNvSpPr>
            <a:spLocks xmlns:a="http://schemas.openxmlformats.org/drawingml/2006/main" noGrp="1"/>
          </p:cNvSpPr>
          <p:nvPr/>
        </p:nvSpPr>
        <p:spPr>
          <a:xfrm xmlns:a="http://schemas.openxmlformats.org/drawingml/2006/main">
            <a:off x="10877550" y="6953250"/>
            <a:ext cx="28956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350" b="1">
                <a:solidFill>
                  <a:srgbClr val="52D1DC"/>
                </a:solidFill>
                <a:latin typeface="PingFang SC"/>
                <a:ea typeface="PingFang SC"/>
                <a:cs typeface="PingFang SC"/>
              </a:defRPr>
            </a:pPr>
            <a:r>
              <a:rPr sz="1350" b="1">
                <a:solidFill>
                  <a:srgbClr val="52D1DC"/>
                </a:solidFill>
                <a:latin typeface="PingFang SC"/>
                <a:ea typeface="PingFang SC"/>
                <a:cs typeface="PingFang SC"/>
              </a:rPr>
              <a:t>网络存储版本治理</a:t>
            </a:r>
          </a:p>
        </p:txBody>
      </p:sp>
      <p:sp>
        <p:nvSpPr>
          <p:cNvPr id="20" name="footer-rule">
            <a:extLst xmlns:a="http://schemas.openxmlformats.org/drawingml/2006/main">
              <a:ext uri="{FF2B5EF4-FFF2-40B4-BE49-F238E27FC236}">
                <a16:creationId xmlns:a16="http://schemas.microsoft.com/office/drawing/2014/main" id="{276BBF5F-AF35-4BC3-90D5-4E3B5CA9BFD9}"/>
              </a:ext>
            </a:extLst>
          </p:cNvPr>
          <p:cNvSpPr>
            <a:spLocks xmlns:a="http://schemas.openxmlformats.org/drawingml/2006/main" noGrp="1"/>
          </p:cNvSpPr>
          <p:nvPr/>
        </p:nvSpPr>
        <p:spPr>
          <a:xfrm xmlns:a="http://schemas.openxmlformats.org/drawingml/2006/main">
            <a:off x="838200" y="9544050"/>
            <a:ext cx="13639800" cy="9525"/>
          </a:xfrm>
          <a:prstGeom xmlns:a="http://schemas.openxmlformats.org/drawingml/2006/main" prst="rect">
            <a:avLst/>
          </a:prstGeom>
          <a:solidFill xmlns:a="http://schemas.openxmlformats.org/drawingml/2006/main">
            <a:srgbClr val="D7E0DA"/>
          </a:solidFill>
          <a:ln xmlns:a="http://schemas.openxmlformats.org/drawingml/2006/main" w="0">
            <a:solidFill>
              <a:srgbClr val="D7E0DA"/>
            </a:solidFill>
            <a:prstDash val="solid"/>
          </a:ln>
        </p:spPr>
      </p:sp>
      <p:sp>
        <p:nvSpPr>
          <p:cNvPr id="21" name="footer-label">
            <a:extLst xmlns:a="http://schemas.openxmlformats.org/drawingml/2006/main">
              <a:ext uri="{FF2B5EF4-FFF2-40B4-BE49-F238E27FC236}">
                <a16:creationId xmlns:a16="http://schemas.microsoft.com/office/drawing/2014/main" id="{BAA5CA31-51E4-4B72-88C1-F96C7420CBB3}"/>
              </a:ext>
            </a:extLst>
          </p:cNvPr>
          <p:cNvSpPr>
            <a:spLocks xmlns:a="http://schemas.openxmlformats.org/drawingml/2006/main" noGrp="1"/>
          </p:cNvSpPr>
          <p:nvPr/>
        </p:nvSpPr>
        <p:spPr>
          <a:xfrm xmlns:a="http://schemas.openxmlformats.org/drawingml/2006/main">
            <a:off x="14630400" y="9410700"/>
            <a:ext cx="28194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5B6875"/>
                </a:solidFill>
                <a:latin typeface="PingFang SC"/>
                <a:ea typeface="PingFang SC"/>
                <a:cs typeface="PingFang SC"/>
              </a:defRPr>
            </a:pPr>
            <a:r>
              <a:rPr sz="1050">
                <a:solidFill>
                  <a:srgbClr val="5B6875"/>
                </a:solidFill>
                <a:latin typeface="PingFang SC"/>
                <a:ea typeface="PingFang SC"/>
                <a:cs typeface="PingFang SC"/>
              </a:rPr>
              <a:t>建议标题：NoDeskClaw 2026 年 4 月产品更新</a:t>
            </a:r>
          </a:p>
        </p:txBody>
      </p:sp>
    </p:spTree>
    <p:extLst>
      <p:ext uri="{BB962C8B-B14F-4D97-AF65-F5344CB8AC3E}">
        <p14:creationId xmlns:p14="http://schemas.microsoft.com/office/powerpoint/2010/main" val="3823561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2026-04-27T07:11:37.7900000Z</dcterms:created>
  <dcterms:modified xsi:type="dcterms:W3CDTF">2026-04-27T07:11:37.7910000Z</dcterms:modified>
</coreProperties>
</file>